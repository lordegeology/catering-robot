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aleway"/>
      <p:regular r:id="rId32"/>
      <p:bold r:id="rId33"/>
      <p:italic r:id="rId34"/>
      <p:boldItalic r:id="rId35"/>
    </p:embeddedFont>
    <p:embeddedFont>
      <p:font typeface="Lato"/>
      <p:regular r:id="rId36"/>
      <p:bold r:id="rId37"/>
      <p:italic r:id="rId38"/>
      <p:boldItalic r:id="rId39"/>
    </p:embeddedFont>
    <p:embeddedFont>
      <p:font typeface="Lato Black"/>
      <p:bold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lack-bold.fntdata"/><Relationship Id="rId20" Type="http://schemas.openxmlformats.org/officeDocument/2006/relationships/slide" Target="slides/slide15.xml"/><Relationship Id="rId41" Type="http://schemas.openxmlformats.org/officeDocument/2006/relationships/font" Target="fonts/LatoBlack-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bold.fntdata"/><Relationship Id="rId10" Type="http://schemas.openxmlformats.org/officeDocument/2006/relationships/slide" Target="slides/slide5.xml"/><Relationship Id="rId32" Type="http://schemas.openxmlformats.org/officeDocument/2006/relationships/font" Target="fonts/Raleway-regular.fntdata"/><Relationship Id="rId13" Type="http://schemas.openxmlformats.org/officeDocument/2006/relationships/slide" Target="slides/slide8.xml"/><Relationship Id="rId35" Type="http://schemas.openxmlformats.org/officeDocument/2006/relationships/font" Target="fonts/Raleway-boldItalic.fntdata"/><Relationship Id="rId12" Type="http://schemas.openxmlformats.org/officeDocument/2006/relationships/slide" Target="slides/slide7.xml"/><Relationship Id="rId34" Type="http://schemas.openxmlformats.org/officeDocument/2006/relationships/font" Target="fonts/Raleway-italic.fntdata"/><Relationship Id="rId15" Type="http://schemas.openxmlformats.org/officeDocument/2006/relationships/slide" Target="slides/slide10.xml"/><Relationship Id="rId37" Type="http://schemas.openxmlformats.org/officeDocument/2006/relationships/font" Target="fonts/Lato-bold.fntdata"/><Relationship Id="rId14" Type="http://schemas.openxmlformats.org/officeDocument/2006/relationships/slide" Target="slides/slide9.xml"/><Relationship Id="rId36" Type="http://schemas.openxmlformats.org/officeDocument/2006/relationships/font" Target="fonts/Lato-regular.fntdata"/><Relationship Id="rId17" Type="http://schemas.openxmlformats.org/officeDocument/2006/relationships/slide" Target="slides/slide12.xml"/><Relationship Id="rId39" Type="http://schemas.openxmlformats.org/officeDocument/2006/relationships/font" Target="fonts/Lato-boldItalic.fntdata"/><Relationship Id="rId16" Type="http://schemas.openxmlformats.org/officeDocument/2006/relationships/slide" Target="slides/slide11.xml"/><Relationship Id="rId38" Type="http://schemas.openxmlformats.org/officeDocument/2006/relationships/font" Target="fonts/La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acd844d0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acd844d0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acd844d0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acd844d0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acd844d050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acd844d05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acd844d05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acd844d05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acd844d05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acd844d05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acd844d050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acd844d050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acd844d050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acd844d050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acd844d050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acd844d050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acd844d050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acd844d050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acd844d050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acd844d050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acd844d05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acd844d05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acd844d050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acd844d050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acd844d050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acd844d050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acd844d050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acd844d050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acd844d050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acd844d050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acd844d050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acd844d050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acd844d05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acd844d05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acd844d05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acd844d05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acd844d050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acd844d050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acd844d050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acd844d050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acd844d050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acd844d050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acd844d050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acd844d050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acd844d050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acd844d050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acd844d05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acd844d05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acd844d050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acd844d050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acd844d050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acd844d050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pudurobotics.com/product/detail/bellabo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bblai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robots.stanford.edu/papers/Thrun03g.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github.com/AtsushiSakai/PythonRobotics" TargetMode="External"/><Relationship Id="rId4" Type="http://schemas.openxmlformats.org/officeDocument/2006/relationships/image" Target="../media/image25.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drive.google.com/file/d/1eNC5_pbwnbnn9315t8-IjPQJTpGkdHyS/view" TargetMode="Externa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drive.google.com/file/d/1CCuAHlXIn1iqv9KUvOKm8X_2GpMiEM9C/view" TargetMode="Externa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drive.google.com/file/d/1p7-o7b8St8hGLdztOoDuEd0Xn2Caik0h/view" TargetMode="Externa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researchgate.net/publication/251945230_Catering_Service_Robot" TargetMode="External"/><Relationship Id="rId4" Type="http://schemas.openxmlformats.org/officeDocument/2006/relationships/hyperlink" Target="https://www.sciencedirect.com/science/article/pii/S1877050918309967" TargetMode="External"/><Relationship Id="rId10" Type="http://schemas.openxmlformats.org/officeDocument/2006/relationships/hyperlink" Target="https://arxiv.org/abs/1808.10703" TargetMode="External"/><Relationship Id="rId9" Type="http://schemas.openxmlformats.org/officeDocument/2006/relationships/hyperlink" Target="http://robots.stanford.edu/papers/Thrun03g.pdf" TargetMode="External"/><Relationship Id="rId5" Type="http://schemas.openxmlformats.org/officeDocument/2006/relationships/hyperlink" Target="https://www.pudurobotics.com/product/detail/bellabot" TargetMode="External"/><Relationship Id="rId6" Type="http://schemas.openxmlformats.org/officeDocument/2006/relationships/hyperlink" Target="http://idm-lab.org/bib/abstracts/papers/aaai02b.pdf" TargetMode="External"/><Relationship Id="rId7" Type="http://schemas.openxmlformats.org/officeDocument/2006/relationships/hyperlink" Target="https://github.com/AtsushiSakai/PythonRobotics/blob/master/PathPlanning/DStarLite/d_star_lite.py" TargetMode="External"/><Relationship Id="rId8" Type="http://schemas.openxmlformats.org/officeDocument/2006/relationships/hyperlink" Target="https://github.com/bblais/RobotSim37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Catering Robot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Course Project: BITS F327 Artificial Intelligence for Robotics</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Acknowledgements</a:t>
            </a:r>
            <a:endParaRPr/>
          </a:p>
        </p:txBody>
      </p:sp>
      <p:sp>
        <p:nvSpPr>
          <p:cNvPr id="93" name="Google Shape;93;p14"/>
          <p:cNvSpPr txBox="1"/>
          <p:nvPr>
            <p:ph idx="1" type="body"/>
          </p:nvPr>
        </p:nvSpPr>
        <p:spPr>
          <a:xfrm>
            <a:off x="645000" y="1484675"/>
            <a:ext cx="7854000" cy="284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We would like to thank Dr. Abhishek Sarkar for his valuable guidance and support. </a:t>
            </a:r>
            <a:endParaRPr sz="1500"/>
          </a:p>
          <a:p>
            <a:pPr indent="0" lvl="0" marL="0" rtl="0" algn="l">
              <a:spcBef>
                <a:spcPts val="1200"/>
              </a:spcBef>
              <a:spcAft>
                <a:spcPts val="0"/>
              </a:spcAft>
              <a:buNone/>
            </a:pPr>
            <a:r>
              <a:rPr lang="en" sz="1500"/>
              <a:t>Special thanks to Mr. Suryanarayana for his support and assistance.</a:t>
            </a:r>
            <a:endParaRPr sz="1500"/>
          </a:p>
          <a:p>
            <a:pPr indent="0" lvl="0" marL="0" rtl="0" algn="l">
              <a:spcBef>
                <a:spcPts val="1200"/>
              </a:spcBef>
              <a:spcAft>
                <a:spcPts val="0"/>
              </a:spcAft>
              <a:buNone/>
            </a:pPr>
            <a:r>
              <a:rPr lang="en" sz="1500"/>
              <a:t>Finally, we would like to thank our university, BITS Pilani, for the opportunities it provides us.</a:t>
            </a:r>
            <a:endParaRPr sz="1500"/>
          </a:p>
          <a:p>
            <a:pPr indent="0" lvl="0" marL="0" rtl="0" algn="l">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Introduction</a:t>
            </a:r>
            <a:endParaRPr/>
          </a:p>
        </p:txBody>
      </p:sp>
      <p:sp>
        <p:nvSpPr>
          <p:cNvPr id="99" name="Google Shape;99;p15"/>
          <p:cNvSpPr txBox="1"/>
          <p:nvPr>
            <p:ph idx="1" type="body"/>
          </p:nvPr>
        </p:nvSpPr>
        <p:spPr>
          <a:xfrm>
            <a:off x="727650" y="1479775"/>
            <a:ext cx="7688700" cy="3663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As human living standards keep on improving continuously, robots gradually entered our daily lives to make things easier and interesting. Out of these service robots, catering robots are one of the most interesting and useful robots.</a:t>
            </a:r>
            <a:endParaRPr/>
          </a:p>
          <a:p>
            <a:pPr indent="-311150" lvl="0" marL="457200" rtl="0" algn="l">
              <a:lnSpc>
                <a:spcPct val="150000"/>
              </a:lnSpc>
              <a:spcBef>
                <a:spcPts val="0"/>
              </a:spcBef>
              <a:spcAft>
                <a:spcPts val="0"/>
              </a:spcAft>
              <a:buSzPts val="1300"/>
              <a:buChar char="❏"/>
            </a:pPr>
            <a:r>
              <a:rPr lang="en"/>
              <a:t>Catering service robots working in restaurants are usually integrated with multi sensor data fusions, autonomous mobile and multimodal human computer interaction techniques.</a:t>
            </a:r>
            <a:endParaRPr/>
          </a:p>
          <a:p>
            <a:pPr indent="-311150" lvl="0" marL="457200" rtl="0" algn="l">
              <a:lnSpc>
                <a:spcPct val="150000"/>
              </a:lnSpc>
              <a:spcBef>
                <a:spcPts val="0"/>
              </a:spcBef>
              <a:spcAft>
                <a:spcPts val="0"/>
              </a:spcAft>
              <a:buSzPts val="1300"/>
              <a:buChar char="❏"/>
            </a:pPr>
            <a:r>
              <a:rPr lang="en"/>
              <a:t>They can partially or completely take the role of restaurant staff as they can be used by customers for ordering food and provide delivering services in the restaurant along with friendly interactions and self mobility.</a:t>
            </a:r>
            <a:endParaRPr/>
          </a:p>
          <a:p>
            <a:pPr indent="-311150" lvl="0" marL="457200" rtl="0" algn="l">
              <a:lnSpc>
                <a:spcPct val="150000"/>
              </a:lnSpc>
              <a:spcBef>
                <a:spcPts val="0"/>
              </a:spcBef>
              <a:spcAft>
                <a:spcPts val="0"/>
              </a:spcAft>
              <a:buSzPts val="1300"/>
              <a:buChar char="❏"/>
            </a:pPr>
            <a:r>
              <a:rPr b="1" lang="en"/>
              <a:t>Hence they are very beneficial, as they come with good marketing effectiveness and potential profitable advantages. </a:t>
            </a:r>
            <a:endParaRPr b="1"/>
          </a:p>
          <a:p>
            <a:pPr indent="-311150" lvl="0" marL="457200" rtl="0" algn="l">
              <a:lnSpc>
                <a:spcPct val="150000"/>
              </a:lnSpc>
              <a:spcBef>
                <a:spcPts val="0"/>
              </a:spcBef>
              <a:spcAft>
                <a:spcPts val="0"/>
              </a:spcAft>
              <a:buSzPts val="1300"/>
              <a:buChar char="❏"/>
            </a:pPr>
            <a:r>
              <a:rPr lang="en"/>
              <a:t>Commercial waiter robots can go up to $10,000. For example, </a:t>
            </a:r>
            <a:r>
              <a:rPr lang="en" u="sng">
                <a:solidFill>
                  <a:schemeClr val="hlink"/>
                </a:solidFill>
                <a:hlinkClick r:id="rId3"/>
              </a:rPr>
              <a:t>BellaBot</a:t>
            </a:r>
            <a:r>
              <a:rPr lang="en"/>
              <a:t>.</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Objectives</a:t>
            </a:r>
            <a:endParaRPr/>
          </a:p>
        </p:txBody>
      </p:sp>
      <p:sp>
        <p:nvSpPr>
          <p:cNvPr id="105" name="Google Shape;105;p16"/>
          <p:cNvSpPr txBox="1"/>
          <p:nvPr>
            <p:ph idx="1" type="body"/>
          </p:nvPr>
        </p:nvSpPr>
        <p:spPr>
          <a:xfrm>
            <a:off x="729450" y="1493925"/>
            <a:ext cx="7688700" cy="35478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SzPts val="1500"/>
              <a:buChar char="❏"/>
            </a:pPr>
            <a:r>
              <a:rPr lang="en" sz="1500"/>
              <a:t>In this project, we aimed to tackle 3 main aspects when it comes to approaching a real life Catering Robot:</a:t>
            </a:r>
            <a:endParaRPr sz="1500"/>
          </a:p>
          <a:p>
            <a:pPr indent="-323850" lvl="1" marL="914400" rtl="0" algn="l">
              <a:lnSpc>
                <a:spcPct val="150000"/>
              </a:lnSpc>
              <a:spcBef>
                <a:spcPts val="0"/>
              </a:spcBef>
              <a:spcAft>
                <a:spcPts val="0"/>
              </a:spcAft>
              <a:buSzPts val="1500"/>
              <a:buChar char="❏"/>
            </a:pPr>
            <a:r>
              <a:rPr lang="en" sz="1500"/>
              <a:t>Path Planning: Implementing D* Lite Algorithm which allows for course correction.</a:t>
            </a:r>
            <a:endParaRPr sz="1500"/>
          </a:p>
          <a:p>
            <a:pPr indent="-323850" lvl="1" marL="914400" rtl="0" algn="l">
              <a:lnSpc>
                <a:spcPct val="150000"/>
              </a:lnSpc>
              <a:spcBef>
                <a:spcPts val="0"/>
              </a:spcBef>
              <a:spcAft>
                <a:spcPts val="0"/>
              </a:spcAft>
              <a:buSzPts val="1500"/>
              <a:buChar char="❏"/>
            </a:pPr>
            <a:r>
              <a:rPr lang="en" sz="1500"/>
              <a:t>Simulation: using box2d, which is a 2-dimensional physics engine, and matplotlib to simulate motion in a restaurant-like environment.</a:t>
            </a:r>
            <a:endParaRPr sz="1500"/>
          </a:p>
          <a:p>
            <a:pPr indent="-323850" lvl="1" marL="914400" rtl="0" algn="l">
              <a:lnSpc>
                <a:spcPct val="150000"/>
              </a:lnSpc>
              <a:spcBef>
                <a:spcPts val="0"/>
              </a:spcBef>
              <a:spcAft>
                <a:spcPts val="0"/>
              </a:spcAft>
              <a:buSzPts val="1500"/>
              <a:buChar char="❏"/>
            </a:pPr>
            <a:r>
              <a:rPr lang="en" sz="1500"/>
              <a:t>SLAM: using the publicly </a:t>
            </a:r>
            <a:r>
              <a:rPr lang="en" sz="1500"/>
              <a:t>available</a:t>
            </a:r>
            <a:r>
              <a:rPr lang="en" sz="1500"/>
              <a:t> FastSLAM algorithms to attempt tackling the simultaneous localization and mapping (SLAM) problem.</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Theory and Algorithms used</a:t>
            </a:r>
            <a:endParaRPr/>
          </a:p>
        </p:txBody>
      </p:sp>
      <p:sp>
        <p:nvSpPr>
          <p:cNvPr id="111" name="Google Shape;111;p17"/>
          <p:cNvSpPr txBox="1"/>
          <p:nvPr>
            <p:ph idx="1" type="body"/>
          </p:nvPr>
        </p:nvSpPr>
        <p:spPr>
          <a:xfrm>
            <a:off x="0" y="1318175"/>
            <a:ext cx="9144000" cy="38253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0"/>
              </a:spcBef>
              <a:spcAft>
                <a:spcPts val="0"/>
              </a:spcAft>
              <a:buSzPts val="1300"/>
              <a:buChar char="❏"/>
            </a:pPr>
            <a:r>
              <a:rPr lang="en"/>
              <a:t>We use a pre-built robot kit with the necessary tools and functions as well as the simulation environment tools by Brian Blais from Bryant University (</a:t>
            </a:r>
            <a:r>
              <a:rPr lang="en" u="sng">
                <a:solidFill>
                  <a:schemeClr val="hlink"/>
                </a:solidFill>
                <a:hlinkClick r:id="rId3"/>
              </a:rPr>
              <a:t>https://github.com/bblais</a:t>
            </a:r>
            <a:r>
              <a:rPr lang="en"/>
              <a:t>) for our project. </a:t>
            </a:r>
            <a:endParaRPr/>
          </a:p>
          <a:p>
            <a:pPr indent="-311150" lvl="0" marL="457200" rtl="0" algn="l">
              <a:lnSpc>
                <a:spcPct val="200000"/>
              </a:lnSpc>
              <a:spcBef>
                <a:spcPts val="0"/>
              </a:spcBef>
              <a:spcAft>
                <a:spcPts val="0"/>
              </a:spcAft>
              <a:buSzPts val="1300"/>
              <a:buChar char="❏"/>
            </a:pPr>
            <a:r>
              <a:rPr lang="en"/>
              <a:t>It allows the user to build basic 2D robots of various shapes. The robot has a list of functions that allows us to build various new functions for motion and path planning. </a:t>
            </a:r>
            <a:endParaRPr/>
          </a:p>
          <a:p>
            <a:pPr indent="-311150" lvl="0" marL="457200" rtl="0" algn="l">
              <a:lnSpc>
                <a:spcPct val="200000"/>
              </a:lnSpc>
              <a:spcBef>
                <a:spcPts val="0"/>
              </a:spcBef>
              <a:spcAft>
                <a:spcPts val="0"/>
              </a:spcAft>
              <a:buSzPts val="1300"/>
              <a:buChar char="❏"/>
            </a:pPr>
            <a:r>
              <a:rPr lang="en"/>
              <a:t>It involves a simulation environment built with</a:t>
            </a:r>
            <a:r>
              <a:rPr b="1" lang="en"/>
              <a:t> box2d</a:t>
            </a:r>
            <a:r>
              <a:rPr lang="en"/>
              <a:t> and visualization with </a:t>
            </a:r>
            <a:r>
              <a:rPr b="1" lang="en"/>
              <a:t>matplotlib</a:t>
            </a:r>
            <a:r>
              <a:rPr lang="en"/>
              <a:t>.  </a:t>
            </a:r>
            <a:endParaRPr/>
          </a:p>
          <a:p>
            <a:pPr indent="-311150" lvl="0" marL="457200" rtl="0" algn="l">
              <a:lnSpc>
                <a:spcPct val="200000"/>
              </a:lnSpc>
              <a:spcBef>
                <a:spcPts val="0"/>
              </a:spcBef>
              <a:spcAft>
                <a:spcPts val="0"/>
              </a:spcAft>
              <a:buSzPts val="1300"/>
              <a:buChar char="❏"/>
            </a:pPr>
            <a:r>
              <a:rPr b="1" lang="en">
                <a:highlight>
                  <a:schemeClr val="lt1"/>
                </a:highlight>
              </a:rPr>
              <a:t>pybox2d</a:t>
            </a:r>
            <a:r>
              <a:rPr lang="en">
                <a:highlight>
                  <a:schemeClr val="lt1"/>
                </a:highlight>
              </a:rPr>
              <a:t> is a 2D physics library for your games and simple simulations. It's based on the Box2D library, written in C++. It supports several shape types (circle, polygon, thin line segments), and quite a few joint types (revolute, prismatic, wheel, etc.). </a:t>
            </a:r>
            <a:endParaRPr>
              <a:highlight>
                <a:schemeClr val="lt1"/>
              </a:highlight>
            </a:endParaRPr>
          </a:p>
          <a:p>
            <a:pPr indent="-311150" lvl="0" marL="457200" rtl="0" algn="l">
              <a:lnSpc>
                <a:spcPct val="200000"/>
              </a:lnSpc>
              <a:spcBef>
                <a:spcPts val="0"/>
              </a:spcBef>
              <a:spcAft>
                <a:spcPts val="0"/>
              </a:spcAft>
              <a:buSzPts val="1300"/>
              <a:buChar char="❏"/>
            </a:pPr>
            <a:r>
              <a:rPr b="1" lang="en">
                <a:highlight>
                  <a:schemeClr val="lt1"/>
                </a:highlight>
              </a:rPr>
              <a:t>Matplotlib </a:t>
            </a:r>
            <a:r>
              <a:rPr lang="en">
                <a:highlight>
                  <a:schemeClr val="lt1"/>
                </a:highlight>
              </a:rPr>
              <a:t>is a comprehensive plotting library for creating static, animated, and interactive visualizations in Python.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Theory and Algorithms used (Cont’d…)</a:t>
            </a:r>
            <a:endParaRPr/>
          </a:p>
          <a:p>
            <a:pPr indent="0" lvl="0" marL="0" rtl="0" algn="l">
              <a:spcBef>
                <a:spcPts val="0"/>
              </a:spcBef>
              <a:spcAft>
                <a:spcPts val="0"/>
              </a:spcAft>
              <a:buNone/>
            </a:pPr>
            <a:r>
              <a:t/>
            </a:r>
            <a:endParaRPr/>
          </a:p>
        </p:txBody>
      </p:sp>
      <p:sp>
        <p:nvSpPr>
          <p:cNvPr id="117" name="Google Shape;117;p18"/>
          <p:cNvSpPr txBox="1"/>
          <p:nvPr>
            <p:ph idx="1" type="body"/>
          </p:nvPr>
        </p:nvSpPr>
        <p:spPr>
          <a:xfrm>
            <a:off x="0" y="1216400"/>
            <a:ext cx="9144000" cy="40005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SzPts val="1400"/>
              <a:buChar char="❏"/>
            </a:pPr>
            <a:r>
              <a:rPr lang="en" sz="1400"/>
              <a:t>We then implement path planning using </a:t>
            </a:r>
            <a:r>
              <a:rPr b="1" lang="en" sz="1400"/>
              <a:t>D* Lite</a:t>
            </a:r>
            <a:r>
              <a:rPr lang="en" sz="1400"/>
              <a:t> algorithm. It is useful for our use case as it is a simpler version of D* while also allow for course correction by replanning the path as obstacles are encountered.</a:t>
            </a:r>
            <a:endParaRPr sz="1400"/>
          </a:p>
          <a:p>
            <a:pPr indent="-317500" lvl="0" marL="457200" rtl="0" algn="l">
              <a:lnSpc>
                <a:spcPct val="200000"/>
              </a:lnSpc>
              <a:spcBef>
                <a:spcPts val="0"/>
              </a:spcBef>
              <a:spcAft>
                <a:spcPts val="0"/>
              </a:spcAft>
              <a:buSzPts val="1400"/>
              <a:buChar char="❏"/>
            </a:pPr>
            <a:r>
              <a:rPr lang="en" sz="1400"/>
              <a:t>D* Lite is an incremental heuristic search that repeatedly determines shortest paths between the current node of the robot and the goal node as the edge costs of a graph change while the robot moves towards the goal node. It is based upon the idea as A*.  It adapts to obstacles with minimum cost to reach the goal. </a:t>
            </a:r>
            <a:endParaRPr sz="1400"/>
          </a:p>
          <a:p>
            <a:pPr indent="-317500" lvl="0" marL="457200" rtl="0" algn="l">
              <a:lnSpc>
                <a:spcPct val="200000"/>
              </a:lnSpc>
              <a:spcBef>
                <a:spcPts val="0"/>
              </a:spcBef>
              <a:spcAft>
                <a:spcPts val="0"/>
              </a:spcAft>
              <a:buSzPts val="1400"/>
              <a:buChar char="❏"/>
            </a:pPr>
            <a:r>
              <a:rPr b="1" lang="en" sz="1400"/>
              <a:t>Autonomous robots</a:t>
            </a:r>
            <a:r>
              <a:rPr lang="en" sz="1400"/>
              <a:t> are the ones that act without recourse to human control and  show some degree of self sufficiency. </a:t>
            </a:r>
            <a:endParaRPr sz="1400"/>
          </a:p>
          <a:p>
            <a:pPr indent="-317500" lvl="0" marL="457200" rtl="0" algn="l">
              <a:lnSpc>
                <a:spcPct val="200000"/>
              </a:lnSpc>
              <a:spcBef>
                <a:spcPts val="0"/>
              </a:spcBef>
              <a:spcAft>
                <a:spcPts val="0"/>
              </a:spcAft>
              <a:buSzPts val="1400"/>
              <a:buChar char="❏"/>
            </a:pPr>
            <a:r>
              <a:rPr lang="en" sz="1400"/>
              <a:t>The first autonomous robot environment known as Elmer and Elsie were first constructed in the late 1940s by Grey Walter.</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Theory and Algorithms used (Cont’d…)</a:t>
            </a:r>
            <a:endParaRPr/>
          </a:p>
          <a:p>
            <a:pPr indent="0" lvl="0" marL="0" rtl="0" algn="l">
              <a:spcBef>
                <a:spcPts val="0"/>
              </a:spcBef>
              <a:spcAft>
                <a:spcPts val="0"/>
              </a:spcAft>
              <a:buNone/>
            </a:pPr>
            <a:r>
              <a:t/>
            </a:r>
            <a:endParaRPr/>
          </a:p>
        </p:txBody>
      </p:sp>
      <p:sp>
        <p:nvSpPr>
          <p:cNvPr id="123" name="Google Shape;123;p19"/>
          <p:cNvSpPr txBox="1"/>
          <p:nvPr>
            <p:ph idx="1" type="body"/>
          </p:nvPr>
        </p:nvSpPr>
        <p:spPr>
          <a:xfrm>
            <a:off x="0" y="1336206"/>
            <a:ext cx="9144000" cy="3520800"/>
          </a:xfrm>
          <a:prstGeom prst="rect">
            <a:avLst/>
          </a:prstGeom>
        </p:spPr>
        <p:txBody>
          <a:bodyPr anchorCtr="0" anchor="t" bIns="91425" lIns="91425" spcFirstLastPara="1" rIns="91425" wrap="square" tIns="91425">
            <a:normAutofit lnSpcReduction="20000"/>
          </a:bodyPr>
          <a:lstStyle/>
          <a:p>
            <a:pPr indent="-317500" lvl="0" marL="457200" rtl="0" algn="l">
              <a:lnSpc>
                <a:spcPct val="200000"/>
              </a:lnSpc>
              <a:spcBef>
                <a:spcPts val="0"/>
              </a:spcBef>
              <a:spcAft>
                <a:spcPts val="0"/>
              </a:spcAft>
              <a:buSzPts val="1400"/>
              <a:buChar char="❏"/>
            </a:pPr>
            <a:r>
              <a:rPr lang="en" sz="1400"/>
              <a:t>The </a:t>
            </a:r>
            <a:r>
              <a:rPr b="1" lang="en" sz="1400"/>
              <a:t>Finite State Machine</a:t>
            </a:r>
            <a:r>
              <a:rPr lang="en" sz="1400"/>
              <a:t> is an abstract mathematical model of a sequential logic function and can be implemented in real life circuits with the help of Flip Flops.  It has finite inputs, outputs and number of states. It can change from one state to another as response to some inputs.</a:t>
            </a:r>
            <a:endParaRPr sz="1400"/>
          </a:p>
          <a:p>
            <a:pPr indent="-317500" lvl="0" marL="457200" rtl="0" algn="l">
              <a:lnSpc>
                <a:spcPct val="200000"/>
              </a:lnSpc>
              <a:spcBef>
                <a:spcPts val="0"/>
              </a:spcBef>
              <a:spcAft>
                <a:spcPts val="0"/>
              </a:spcAft>
              <a:buSzPts val="1400"/>
              <a:buChar char="❏"/>
            </a:pPr>
            <a:r>
              <a:rPr lang="en" sz="1400"/>
              <a:t>The </a:t>
            </a:r>
            <a:r>
              <a:rPr b="1" lang="en" sz="1400"/>
              <a:t>robotic controller </a:t>
            </a:r>
            <a:r>
              <a:rPr lang="en" sz="1400"/>
              <a:t>acts as the brain of a robot as it usually interrupts coding that serves as the program for a given robotic application. It deciphers the code into instructions for the articulated robot to use in order to operate and carry out the steps of application.</a:t>
            </a:r>
            <a:endParaRPr sz="1400"/>
          </a:p>
          <a:p>
            <a:pPr indent="-317500" lvl="0" marL="457200" rtl="0" algn="l">
              <a:lnSpc>
                <a:spcPct val="200000"/>
              </a:lnSpc>
              <a:spcBef>
                <a:spcPts val="0"/>
              </a:spcBef>
              <a:spcAft>
                <a:spcPts val="0"/>
              </a:spcAft>
              <a:buSzPts val="1400"/>
              <a:buChar char="❏"/>
            </a:pPr>
            <a:r>
              <a:rPr lang="en" sz="1400"/>
              <a:t>The </a:t>
            </a:r>
            <a:r>
              <a:rPr b="1" lang="en" sz="1400"/>
              <a:t>SLAM </a:t>
            </a:r>
            <a:r>
              <a:rPr lang="en" sz="1400"/>
              <a:t>problem involves a moving vehicle attempting to recover a spatial map of its environment, while simultaneously estimating its own pose (location and orientation) relative to the map. SLAM problems arises in the navigation of mobile robots through unknown environments for which no accurate map is available.</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Theory and Algorithms used (Cont’d…)</a:t>
            </a:r>
            <a:endParaRPr/>
          </a:p>
          <a:p>
            <a:pPr indent="0" lvl="0" marL="0" rtl="0" algn="l">
              <a:spcBef>
                <a:spcPts val="0"/>
              </a:spcBef>
              <a:spcAft>
                <a:spcPts val="0"/>
              </a:spcAft>
              <a:buNone/>
            </a:pPr>
            <a:r>
              <a:t/>
            </a:r>
            <a:endParaRPr/>
          </a:p>
        </p:txBody>
      </p:sp>
      <p:sp>
        <p:nvSpPr>
          <p:cNvPr id="129" name="Google Shape;129;p20"/>
          <p:cNvSpPr txBox="1"/>
          <p:nvPr>
            <p:ph idx="1" type="body"/>
          </p:nvPr>
        </p:nvSpPr>
        <p:spPr>
          <a:xfrm>
            <a:off x="0" y="1326700"/>
            <a:ext cx="9144000" cy="35208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SzPts val="1400"/>
              <a:buChar char="❏"/>
            </a:pPr>
            <a:r>
              <a:rPr b="1" lang="en" sz="1400"/>
              <a:t>Kalman filtering</a:t>
            </a:r>
            <a:r>
              <a:rPr lang="en" sz="1400"/>
              <a:t>, also known as linear quadratic estimation (LQE), is an algorithm that uses a series of measurements observed over time, including statistical noise and other inaccuracies, and produces estimates of unknown variables that tend to be more accurate than those based on a single measurement alone, by estimating a joint probability distribution over the variables for each timeframe.</a:t>
            </a:r>
            <a:endParaRPr sz="1400"/>
          </a:p>
          <a:p>
            <a:pPr indent="-317500" lvl="0" marL="457200" rtl="0" algn="l">
              <a:lnSpc>
                <a:spcPct val="200000"/>
              </a:lnSpc>
              <a:spcBef>
                <a:spcPts val="0"/>
              </a:spcBef>
              <a:spcAft>
                <a:spcPts val="0"/>
              </a:spcAft>
              <a:buSzPts val="1400"/>
              <a:buChar char="❏"/>
            </a:pPr>
            <a:r>
              <a:rPr lang="en" sz="1400"/>
              <a:t>In estimation theory, the </a:t>
            </a:r>
            <a:r>
              <a:rPr b="1" lang="en" sz="1400"/>
              <a:t>Extended Kalman Filter</a:t>
            </a:r>
            <a:r>
              <a:rPr lang="en" sz="1400"/>
              <a:t> (EKF) is the nonlinear version of the Kalman filter which linearizes about an estimate of the current mean and covariance. In the case of well defined transition models, the EKF has been considered the de facto standard in the theory of nonlinear state estimation, navigation systems and GPS. Normal KF is discrete while EKF works with continuous time and change.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Simulation Details [D* Lite] </a:t>
            </a:r>
            <a:endParaRPr/>
          </a:p>
          <a:p>
            <a:pPr indent="0" lvl="0" marL="0" rtl="0" algn="l">
              <a:spcBef>
                <a:spcPts val="0"/>
              </a:spcBef>
              <a:spcAft>
                <a:spcPts val="0"/>
              </a:spcAft>
              <a:buNone/>
            </a:pPr>
            <a:r>
              <a:t/>
            </a:r>
            <a:endParaRPr/>
          </a:p>
        </p:txBody>
      </p:sp>
      <p:sp>
        <p:nvSpPr>
          <p:cNvPr id="135" name="Google Shape;135;p21"/>
          <p:cNvSpPr txBox="1"/>
          <p:nvPr>
            <p:ph idx="1" type="body"/>
          </p:nvPr>
        </p:nvSpPr>
        <p:spPr>
          <a:xfrm>
            <a:off x="157275" y="1493925"/>
            <a:ext cx="3311700" cy="35940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Char char="❏"/>
            </a:pPr>
            <a:r>
              <a:rPr lang="en" sz="1400"/>
              <a:t>In this environment, 9 tables are used as shown: each having 10*10 unit^2 area</a:t>
            </a:r>
            <a:endParaRPr sz="1400"/>
          </a:p>
          <a:p>
            <a:pPr indent="-317500" lvl="0" marL="457200" rtl="0" algn="l">
              <a:lnSpc>
                <a:spcPct val="150000"/>
              </a:lnSpc>
              <a:spcBef>
                <a:spcPts val="0"/>
              </a:spcBef>
              <a:spcAft>
                <a:spcPts val="0"/>
              </a:spcAft>
              <a:buSzPts val="1400"/>
              <a:buChar char="❏"/>
            </a:pPr>
            <a:r>
              <a:rPr lang="en" sz="1400"/>
              <a:t>Overall square boundary :80*80 unit^2</a:t>
            </a:r>
            <a:endParaRPr sz="1400"/>
          </a:p>
          <a:p>
            <a:pPr indent="-317500" lvl="0" marL="457200" rtl="0" algn="l">
              <a:lnSpc>
                <a:spcPct val="150000"/>
              </a:lnSpc>
              <a:spcBef>
                <a:spcPts val="0"/>
              </a:spcBef>
              <a:spcAft>
                <a:spcPts val="0"/>
              </a:spcAft>
              <a:buSzPts val="1400"/>
              <a:buChar char="❏"/>
            </a:pPr>
            <a:r>
              <a:rPr lang="en" sz="1400"/>
              <a:t>Cost of motion from one node to next (i.e one point to another) is either 1 or sqrt(2).</a:t>
            </a:r>
            <a:endParaRPr sz="1400"/>
          </a:p>
          <a:p>
            <a:pPr indent="-317500" lvl="0" marL="457200" rtl="0" algn="l">
              <a:lnSpc>
                <a:spcPct val="150000"/>
              </a:lnSpc>
              <a:spcBef>
                <a:spcPts val="0"/>
              </a:spcBef>
              <a:spcAft>
                <a:spcPts val="0"/>
              </a:spcAft>
              <a:buSzPts val="1400"/>
              <a:buChar char="❏"/>
            </a:pPr>
            <a:r>
              <a:rPr lang="en" sz="1400"/>
              <a:t>Coordinates can only be integers.</a:t>
            </a:r>
            <a:endParaRPr sz="1400"/>
          </a:p>
        </p:txBody>
      </p:sp>
      <p:pic>
        <p:nvPicPr>
          <p:cNvPr id="136" name="Google Shape;136;p21"/>
          <p:cNvPicPr preferRelativeResize="0"/>
          <p:nvPr/>
        </p:nvPicPr>
        <p:blipFill>
          <a:blip r:embed="rId3">
            <a:alphaModFix/>
          </a:blip>
          <a:stretch>
            <a:fillRect/>
          </a:stretch>
        </p:blipFill>
        <p:spPr>
          <a:xfrm>
            <a:off x="3532975" y="1493925"/>
            <a:ext cx="5611025" cy="3356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Simulation Details [box2d]</a:t>
            </a:r>
            <a:endParaRPr/>
          </a:p>
        </p:txBody>
      </p:sp>
      <p:sp>
        <p:nvSpPr>
          <p:cNvPr id="142" name="Google Shape;142;p22"/>
          <p:cNvSpPr txBox="1"/>
          <p:nvPr>
            <p:ph idx="1" type="body"/>
          </p:nvPr>
        </p:nvSpPr>
        <p:spPr>
          <a:xfrm>
            <a:off x="333025" y="1313625"/>
            <a:ext cx="4375800" cy="3699600"/>
          </a:xfrm>
          <a:prstGeom prst="rect">
            <a:avLst/>
          </a:prstGeom>
        </p:spPr>
        <p:txBody>
          <a:bodyPr anchorCtr="0" anchor="t" bIns="91425" lIns="91425" spcFirstLastPara="1" rIns="91425" wrap="square" tIns="91425">
            <a:normAutofit lnSpcReduction="20000"/>
          </a:bodyPr>
          <a:lstStyle/>
          <a:p>
            <a:pPr indent="-317500" lvl="0" marL="457200" rtl="0" algn="l">
              <a:lnSpc>
                <a:spcPct val="150000"/>
              </a:lnSpc>
              <a:spcBef>
                <a:spcPts val="0"/>
              </a:spcBef>
              <a:spcAft>
                <a:spcPts val="0"/>
              </a:spcAft>
              <a:buSzPts val="1400"/>
              <a:buChar char="❏"/>
            </a:pPr>
            <a:r>
              <a:rPr lang="en" sz="1400"/>
              <a:t>The environment is build with box2d and matplotlib. It’s dimensions are 100*100 unit^2</a:t>
            </a:r>
            <a:endParaRPr sz="1400"/>
          </a:p>
          <a:p>
            <a:pPr indent="-317500" lvl="0" marL="457200" rtl="0" algn="l">
              <a:lnSpc>
                <a:spcPct val="150000"/>
              </a:lnSpc>
              <a:spcBef>
                <a:spcPts val="0"/>
              </a:spcBef>
              <a:spcAft>
                <a:spcPts val="0"/>
              </a:spcAft>
              <a:buSzPts val="1400"/>
              <a:buChar char="❏"/>
            </a:pPr>
            <a:r>
              <a:rPr lang="en" sz="1400"/>
              <a:t>Robot dimensions:</a:t>
            </a:r>
            <a:endParaRPr sz="1400"/>
          </a:p>
          <a:p>
            <a:pPr indent="-317500" lvl="1" marL="914400" rtl="0" algn="l">
              <a:lnSpc>
                <a:spcPct val="150000"/>
              </a:lnSpc>
              <a:spcBef>
                <a:spcPts val="0"/>
              </a:spcBef>
              <a:spcAft>
                <a:spcPts val="0"/>
              </a:spcAft>
              <a:buSzPts val="1400"/>
              <a:buChar char="❏"/>
            </a:pPr>
            <a:r>
              <a:rPr lang="en" sz="1400"/>
              <a:t>Both boxes =&gt; 1*1 unit^2</a:t>
            </a:r>
            <a:endParaRPr sz="1400"/>
          </a:p>
          <a:p>
            <a:pPr indent="-317500" lvl="1" marL="914400" rtl="0" algn="l">
              <a:lnSpc>
                <a:spcPct val="150000"/>
              </a:lnSpc>
              <a:spcBef>
                <a:spcPts val="0"/>
              </a:spcBef>
              <a:spcAft>
                <a:spcPts val="0"/>
              </a:spcAft>
              <a:buSzPts val="1400"/>
              <a:buChar char="❏"/>
            </a:pPr>
            <a:r>
              <a:rPr lang="en" sz="1400"/>
              <a:t>Disk =&gt; pi*(0.5)^2 unit^2</a:t>
            </a:r>
            <a:endParaRPr sz="1400"/>
          </a:p>
          <a:p>
            <a:pPr indent="-317500" lvl="0" marL="457200" rtl="0" algn="l">
              <a:lnSpc>
                <a:spcPct val="150000"/>
              </a:lnSpc>
              <a:spcBef>
                <a:spcPts val="0"/>
              </a:spcBef>
              <a:spcAft>
                <a:spcPts val="0"/>
              </a:spcAft>
              <a:buSzPts val="1400"/>
              <a:buChar char="❏"/>
            </a:pPr>
            <a:r>
              <a:rPr lang="en" sz="1400"/>
              <a:t>Table dimensions:</a:t>
            </a:r>
            <a:endParaRPr sz="1400"/>
          </a:p>
          <a:p>
            <a:pPr indent="-317500" lvl="1" marL="914400" rtl="0" algn="l">
              <a:lnSpc>
                <a:spcPct val="150000"/>
              </a:lnSpc>
              <a:spcBef>
                <a:spcPts val="0"/>
              </a:spcBef>
              <a:spcAft>
                <a:spcPts val="0"/>
              </a:spcAft>
              <a:buSzPts val="1400"/>
              <a:buChar char="❏"/>
            </a:pPr>
            <a:r>
              <a:rPr lang="en" sz="1400"/>
              <a:t>10*10 unit^2</a:t>
            </a:r>
            <a:endParaRPr sz="1400"/>
          </a:p>
          <a:p>
            <a:pPr indent="-317500" lvl="0" marL="457200" rtl="0" algn="l">
              <a:lnSpc>
                <a:spcPct val="150000"/>
              </a:lnSpc>
              <a:spcBef>
                <a:spcPts val="0"/>
              </a:spcBef>
              <a:spcAft>
                <a:spcPts val="0"/>
              </a:spcAft>
              <a:buSzPts val="1400"/>
              <a:buChar char="❏"/>
            </a:pPr>
            <a:r>
              <a:rPr lang="en" sz="1400"/>
              <a:t>Obstacle dimensions:</a:t>
            </a:r>
            <a:endParaRPr sz="1400"/>
          </a:p>
          <a:p>
            <a:pPr indent="-317500" lvl="1" marL="914400" rtl="0" algn="l">
              <a:lnSpc>
                <a:spcPct val="150000"/>
              </a:lnSpc>
              <a:spcBef>
                <a:spcPts val="0"/>
              </a:spcBef>
              <a:spcAft>
                <a:spcPts val="0"/>
              </a:spcAft>
              <a:buSzPts val="1400"/>
              <a:buChar char="❏"/>
            </a:pPr>
            <a:r>
              <a:rPr lang="en" sz="1400"/>
              <a:t>60*0.2 unit^2</a:t>
            </a:r>
            <a:endParaRPr sz="1400"/>
          </a:p>
          <a:p>
            <a:pPr indent="-317500" lvl="0" marL="457200" rtl="0" algn="l">
              <a:lnSpc>
                <a:spcPct val="150000"/>
              </a:lnSpc>
              <a:spcBef>
                <a:spcPts val="0"/>
              </a:spcBef>
              <a:spcAft>
                <a:spcPts val="0"/>
              </a:spcAft>
              <a:buSzPts val="1400"/>
              <a:buChar char="❏"/>
            </a:pPr>
            <a:r>
              <a:rPr lang="en" sz="1400"/>
              <a:t>Currently, the obstacles are static.</a:t>
            </a:r>
            <a:endParaRPr sz="1400"/>
          </a:p>
          <a:p>
            <a:pPr indent="-317500" lvl="0" marL="457200" rtl="0" algn="l">
              <a:lnSpc>
                <a:spcPct val="150000"/>
              </a:lnSpc>
              <a:spcBef>
                <a:spcPts val="0"/>
              </a:spcBef>
              <a:spcAft>
                <a:spcPts val="0"/>
              </a:spcAft>
              <a:buSzPts val="1400"/>
              <a:buChar char="❏"/>
            </a:pPr>
            <a:r>
              <a:rPr lang="en" sz="1400"/>
              <a:t>Run time is 200; detail display is 5.</a:t>
            </a:r>
            <a:endParaRPr sz="1400"/>
          </a:p>
          <a:p>
            <a:pPr indent="0" lvl="0" marL="0" rtl="0" algn="l">
              <a:lnSpc>
                <a:spcPct val="115000"/>
              </a:lnSpc>
              <a:spcBef>
                <a:spcPts val="1200"/>
              </a:spcBef>
              <a:spcAft>
                <a:spcPts val="1200"/>
              </a:spcAft>
              <a:buNone/>
            </a:pPr>
            <a:r>
              <a:t/>
            </a:r>
            <a:endParaRPr/>
          </a:p>
        </p:txBody>
      </p:sp>
      <p:pic>
        <p:nvPicPr>
          <p:cNvPr id="143" name="Google Shape;143;p22"/>
          <p:cNvPicPr preferRelativeResize="0"/>
          <p:nvPr/>
        </p:nvPicPr>
        <p:blipFill>
          <a:blip r:embed="rId3">
            <a:alphaModFix/>
          </a:blip>
          <a:stretch>
            <a:fillRect/>
          </a:stretch>
        </p:blipFill>
        <p:spPr>
          <a:xfrm>
            <a:off x="4750175" y="1121925"/>
            <a:ext cx="3982675" cy="38913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FastSLAM: Details and Implementation</a:t>
            </a:r>
            <a:endParaRPr/>
          </a:p>
        </p:txBody>
      </p:sp>
      <p:sp>
        <p:nvSpPr>
          <p:cNvPr id="149" name="Google Shape;149;p23"/>
          <p:cNvSpPr txBox="1"/>
          <p:nvPr>
            <p:ph idx="1" type="body"/>
          </p:nvPr>
        </p:nvSpPr>
        <p:spPr>
          <a:xfrm>
            <a:off x="0" y="1290400"/>
            <a:ext cx="9144000" cy="3853200"/>
          </a:xfrm>
          <a:prstGeom prst="rect">
            <a:avLst/>
          </a:prstGeom>
        </p:spPr>
        <p:txBody>
          <a:bodyPr anchorCtr="0" anchor="t" bIns="91425" lIns="91425" spcFirstLastPara="1" rIns="91425" wrap="square" tIns="91425">
            <a:normAutofit lnSpcReduction="20000"/>
          </a:bodyPr>
          <a:lstStyle/>
          <a:p>
            <a:pPr indent="-323850" lvl="0" marL="457200" rtl="0" algn="l">
              <a:lnSpc>
                <a:spcPct val="200000"/>
              </a:lnSpc>
              <a:spcBef>
                <a:spcPts val="0"/>
              </a:spcBef>
              <a:spcAft>
                <a:spcPts val="0"/>
              </a:spcAft>
              <a:buSzPts val="1500"/>
              <a:buChar char="❏"/>
            </a:pPr>
            <a:r>
              <a:rPr lang="en" sz="1500"/>
              <a:t>FastSLAM is a SLAM algorithm that integrates particle filters and extended Kalman filters, introduced in a </a:t>
            </a:r>
            <a:r>
              <a:rPr lang="en" sz="1500" u="sng">
                <a:solidFill>
                  <a:srgbClr val="0000FF"/>
                </a:solidFill>
                <a:hlinkClick r:id="rId3">
                  <a:extLst>
                    <a:ext uri="{A12FA001-AC4F-418D-AE19-62706E023703}">
                      <ahyp:hlinkClr val="tx"/>
                    </a:ext>
                  </a:extLst>
                </a:hlinkClick>
              </a:rPr>
              <a:t>paper</a:t>
            </a:r>
            <a:r>
              <a:rPr lang="en" sz="1500"/>
              <a:t> by Thrun et al. (2004).  Particle filtering uses a set of particles to represent the posterior distribution of a stochastic process given the noisy and/or partial observations.</a:t>
            </a:r>
            <a:endParaRPr sz="1500"/>
          </a:p>
          <a:p>
            <a:pPr indent="-323850" lvl="0" marL="457200" rtl="0" algn="l">
              <a:lnSpc>
                <a:spcPct val="200000"/>
              </a:lnSpc>
              <a:spcBef>
                <a:spcPts val="0"/>
              </a:spcBef>
              <a:spcAft>
                <a:spcPts val="0"/>
              </a:spcAft>
              <a:buSzPts val="1500"/>
              <a:buChar char="❏"/>
            </a:pPr>
            <a:r>
              <a:rPr lang="en" sz="1500"/>
              <a:t>It exploits a structural property of the SLAM problem; feature estimates are conditional independent given the robot path. More specifically, correlations in the uncertainty among different map features arise only through robot pose uncertainty. </a:t>
            </a:r>
            <a:endParaRPr sz="1500"/>
          </a:p>
          <a:p>
            <a:pPr indent="-323850" lvl="0" marL="457200" rtl="0" algn="l">
              <a:lnSpc>
                <a:spcPct val="200000"/>
              </a:lnSpc>
              <a:spcBef>
                <a:spcPts val="0"/>
              </a:spcBef>
              <a:spcAft>
                <a:spcPts val="0"/>
              </a:spcAft>
              <a:buSzPts val="1500"/>
              <a:buChar char="❏"/>
            </a:pPr>
            <a:r>
              <a:rPr lang="en" sz="1500"/>
              <a:t>If the robot was told its correct path, the errors in its feature estimates would be independent of each other. This observation allows us to define a factored representation of the posterior over poses and maps.</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FastSLAM: Details and Implementation (cont’d…)</a:t>
            </a:r>
            <a:endParaRPr/>
          </a:p>
        </p:txBody>
      </p:sp>
      <p:sp>
        <p:nvSpPr>
          <p:cNvPr id="155" name="Google Shape;155;p24"/>
          <p:cNvSpPr txBox="1"/>
          <p:nvPr>
            <p:ph idx="1" type="body"/>
          </p:nvPr>
        </p:nvSpPr>
        <p:spPr>
          <a:xfrm>
            <a:off x="0" y="1290400"/>
            <a:ext cx="9144000" cy="38532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0"/>
              </a:spcBef>
              <a:spcAft>
                <a:spcPts val="0"/>
              </a:spcAft>
              <a:buSzPts val="1500"/>
              <a:buChar char="❏"/>
            </a:pPr>
            <a:r>
              <a:rPr lang="en" sz="1500"/>
              <a:t>In this project, we have implemented FastSLAM 1.0, which was the earliest version of the FastSLAM family of algorithms, and it was also the easiest to implement.</a:t>
            </a:r>
            <a:endParaRPr sz="1500"/>
          </a:p>
          <a:p>
            <a:pPr indent="-323850" lvl="0" marL="457200" rtl="0" algn="l">
              <a:lnSpc>
                <a:spcPct val="200000"/>
              </a:lnSpc>
              <a:spcBef>
                <a:spcPts val="0"/>
              </a:spcBef>
              <a:spcAft>
                <a:spcPts val="0"/>
              </a:spcAft>
              <a:buSzPts val="1500"/>
              <a:buChar char="❏"/>
            </a:pPr>
            <a:r>
              <a:rPr lang="en" sz="1500"/>
              <a:t>The key advantage of FastSLAM , however, is the fact that data association decisions can be made on a per-particle basis, similar to multi-hypothesis tracking algorithms.</a:t>
            </a:r>
            <a:endParaRPr sz="1500"/>
          </a:p>
          <a:p>
            <a:pPr indent="-323850" lvl="0" marL="457200" rtl="0" algn="l">
              <a:lnSpc>
                <a:spcPct val="200000"/>
              </a:lnSpc>
              <a:spcBef>
                <a:spcPts val="0"/>
              </a:spcBef>
              <a:spcAft>
                <a:spcPts val="0"/>
              </a:spcAft>
              <a:buSzPts val="1500"/>
              <a:buChar char="❏"/>
            </a:pPr>
            <a:r>
              <a:rPr lang="en" sz="1500"/>
              <a:t>Another advantage of FastSLAM is that particle filters can cope with non-linear robot motion models, whereas say an EKF-style approach approximate such models via linear functions.</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Simulation Details [FastSLAM]</a:t>
            </a:r>
            <a:endParaRPr/>
          </a:p>
        </p:txBody>
      </p:sp>
      <p:sp>
        <p:nvSpPr>
          <p:cNvPr id="161" name="Google Shape;161;p25"/>
          <p:cNvSpPr txBox="1"/>
          <p:nvPr>
            <p:ph idx="1" type="body"/>
          </p:nvPr>
        </p:nvSpPr>
        <p:spPr>
          <a:xfrm>
            <a:off x="333025" y="1313625"/>
            <a:ext cx="4375800" cy="3699600"/>
          </a:xfrm>
          <a:prstGeom prst="rect">
            <a:avLst/>
          </a:prstGeom>
        </p:spPr>
        <p:txBody>
          <a:bodyPr anchorCtr="0" anchor="t" bIns="91425" lIns="91425" spcFirstLastPara="1" rIns="91425" wrap="square" tIns="91425">
            <a:normAutofit lnSpcReduction="20000"/>
          </a:bodyPr>
          <a:lstStyle/>
          <a:p>
            <a:pPr indent="-317500" lvl="0" marL="457200" rtl="0" algn="l">
              <a:lnSpc>
                <a:spcPct val="200000"/>
              </a:lnSpc>
              <a:spcBef>
                <a:spcPts val="0"/>
              </a:spcBef>
              <a:spcAft>
                <a:spcPts val="0"/>
              </a:spcAft>
              <a:buSzPts val="1400"/>
              <a:buChar char="❏"/>
            </a:pPr>
            <a:r>
              <a:rPr lang="en" sz="1400"/>
              <a:t>The environment is based on a </a:t>
            </a:r>
            <a:r>
              <a:rPr lang="en" sz="1400" u="sng">
                <a:solidFill>
                  <a:schemeClr val="hlink"/>
                </a:solidFill>
                <a:hlinkClick r:id="rId3"/>
              </a:rPr>
              <a:t>project</a:t>
            </a:r>
            <a:r>
              <a:rPr lang="en" sz="1400"/>
              <a:t> done by Atsushi Sakai (UC Berkeley).</a:t>
            </a:r>
            <a:endParaRPr sz="1400"/>
          </a:p>
          <a:p>
            <a:pPr indent="-317500" lvl="0" marL="457200" rtl="0" algn="l">
              <a:lnSpc>
                <a:spcPct val="200000"/>
              </a:lnSpc>
              <a:spcBef>
                <a:spcPts val="0"/>
              </a:spcBef>
              <a:spcAft>
                <a:spcPts val="0"/>
              </a:spcAft>
              <a:buSzPts val="1400"/>
              <a:buChar char="❏"/>
            </a:pPr>
            <a:r>
              <a:rPr lang="en" sz="1400"/>
              <a:t>The blue line is ground truth, the black line is dead reckoning, the red line is the estimated trajectory with FastSLAM. </a:t>
            </a:r>
            <a:endParaRPr sz="1400"/>
          </a:p>
          <a:p>
            <a:pPr indent="-317500" lvl="0" marL="457200" rtl="0" algn="l">
              <a:lnSpc>
                <a:spcPct val="200000"/>
              </a:lnSpc>
              <a:spcBef>
                <a:spcPts val="0"/>
              </a:spcBef>
              <a:spcAft>
                <a:spcPts val="0"/>
              </a:spcAft>
              <a:buSzPts val="1400"/>
              <a:buChar char="❏"/>
            </a:pPr>
            <a:r>
              <a:rPr lang="en" sz="1400"/>
              <a:t>The red points are particles of FastSLAM. </a:t>
            </a:r>
            <a:endParaRPr sz="1400"/>
          </a:p>
          <a:p>
            <a:pPr indent="-317500" lvl="0" marL="457200" rtl="0" algn="l">
              <a:lnSpc>
                <a:spcPct val="200000"/>
              </a:lnSpc>
              <a:spcBef>
                <a:spcPts val="0"/>
              </a:spcBef>
              <a:spcAft>
                <a:spcPts val="0"/>
              </a:spcAft>
              <a:buSzPts val="1400"/>
              <a:buChar char="❏"/>
            </a:pPr>
            <a:r>
              <a:rPr lang="en" sz="1400"/>
              <a:t>Black points are landmarks, blue crosses are estimated landmark positions by FastSLAM.</a:t>
            </a:r>
            <a:endParaRPr sz="1400"/>
          </a:p>
          <a:p>
            <a:pPr indent="0" lvl="0" marL="0" rtl="0" algn="l">
              <a:lnSpc>
                <a:spcPct val="115000"/>
              </a:lnSpc>
              <a:spcBef>
                <a:spcPts val="1200"/>
              </a:spcBef>
              <a:spcAft>
                <a:spcPts val="1200"/>
              </a:spcAft>
              <a:buNone/>
            </a:pPr>
            <a:r>
              <a:t/>
            </a:r>
            <a:endParaRPr/>
          </a:p>
        </p:txBody>
      </p:sp>
      <p:pic>
        <p:nvPicPr>
          <p:cNvPr id="162" name="Google Shape;162;p25"/>
          <p:cNvPicPr preferRelativeResize="0"/>
          <p:nvPr/>
        </p:nvPicPr>
        <p:blipFill>
          <a:blip r:embed="rId4">
            <a:alphaModFix/>
          </a:blip>
          <a:stretch>
            <a:fillRect/>
          </a:stretch>
        </p:blipFill>
        <p:spPr>
          <a:xfrm>
            <a:off x="5925075" y="1121925"/>
            <a:ext cx="3016174" cy="2010786"/>
          </a:xfrm>
          <a:prstGeom prst="rect">
            <a:avLst/>
          </a:prstGeom>
          <a:noFill/>
          <a:ln>
            <a:noFill/>
          </a:ln>
        </p:spPr>
      </p:pic>
      <p:pic>
        <p:nvPicPr>
          <p:cNvPr id="163" name="Google Shape;163;p25"/>
          <p:cNvPicPr preferRelativeResize="0"/>
          <p:nvPr/>
        </p:nvPicPr>
        <p:blipFill>
          <a:blip r:embed="rId5">
            <a:alphaModFix/>
          </a:blip>
          <a:stretch>
            <a:fillRect/>
          </a:stretch>
        </p:blipFill>
        <p:spPr>
          <a:xfrm>
            <a:off x="5925075" y="3132713"/>
            <a:ext cx="3016210" cy="201078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a:t>
            </a:r>
            <a:endParaRPr/>
          </a:p>
        </p:txBody>
      </p:sp>
      <p:sp>
        <p:nvSpPr>
          <p:cNvPr id="169" name="Google Shape;169;p26"/>
          <p:cNvSpPr txBox="1"/>
          <p:nvPr>
            <p:ph idx="1" type="body"/>
          </p:nvPr>
        </p:nvSpPr>
        <p:spPr>
          <a:xfrm>
            <a:off x="0" y="1292825"/>
            <a:ext cx="4491000" cy="3687000"/>
          </a:xfrm>
          <a:prstGeom prst="rect">
            <a:avLst/>
          </a:prstGeom>
        </p:spPr>
        <p:txBody>
          <a:bodyPr anchorCtr="0" anchor="t" bIns="91425" lIns="91425" spcFirstLastPara="1" rIns="91425" wrap="square" tIns="91425">
            <a:normAutofit lnSpcReduction="10000"/>
          </a:bodyPr>
          <a:lstStyle/>
          <a:p>
            <a:pPr indent="-317500" lvl="0" marL="457200" rtl="0" algn="l">
              <a:lnSpc>
                <a:spcPct val="200000"/>
              </a:lnSpc>
              <a:spcBef>
                <a:spcPts val="0"/>
              </a:spcBef>
              <a:spcAft>
                <a:spcPts val="0"/>
              </a:spcAft>
              <a:buSzPts val="1400"/>
              <a:buChar char="❏"/>
            </a:pPr>
            <a:r>
              <a:rPr lang="en" sz="1400"/>
              <a:t>There are 9 tables and 4 seats each; 36 possible goal nodes and they are randomly selected.</a:t>
            </a:r>
            <a:endParaRPr sz="1400"/>
          </a:p>
          <a:p>
            <a:pPr indent="-317500" lvl="0" marL="457200" rtl="0" algn="l">
              <a:lnSpc>
                <a:spcPct val="200000"/>
              </a:lnSpc>
              <a:spcBef>
                <a:spcPts val="0"/>
              </a:spcBef>
              <a:spcAft>
                <a:spcPts val="0"/>
              </a:spcAft>
              <a:buSzPts val="1400"/>
              <a:buChar char="❏"/>
            </a:pPr>
            <a:r>
              <a:rPr lang="en" sz="1400"/>
              <a:t>After initial path is computed, two random obstacles are introduced after some initial movement; one along x axis and one along y axis.</a:t>
            </a:r>
            <a:endParaRPr sz="1400"/>
          </a:p>
          <a:p>
            <a:pPr indent="-317500" lvl="0" marL="457200" rtl="0" algn="l">
              <a:lnSpc>
                <a:spcPct val="200000"/>
              </a:lnSpc>
              <a:spcBef>
                <a:spcPts val="0"/>
              </a:spcBef>
              <a:spcAft>
                <a:spcPts val="0"/>
              </a:spcAft>
              <a:buSzPts val="1400"/>
              <a:buChar char="❏"/>
            </a:pPr>
            <a:r>
              <a:rPr lang="en" sz="1400"/>
              <a:t>Obstacles are randomly introduces from a set of 6 possible obstacles we have defined.</a:t>
            </a:r>
            <a:endParaRPr sz="1400"/>
          </a:p>
          <a:p>
            <a:pPr indent="-317500" lvl="0" marL="457200" rtl="0" algn="l">
              <a:lnSpc>
                <a:spcPct val="200000"/>
              </a:lnSpc>
              <a:spcBef>
                <a:spcPts val="0"/>
              </a:spcBef>
              <a:spcAft>
                <a:spcPts val="0"/>
              </a:spcAft>
              <a:buSzPts val="1400"/>
              <a:buChar char="❏"/>
            </a:pPr>
            <a:r>
              <a:rPr lang="en" sz="1400"/>
              <a:t>The path is then recomputed.</a:t>
            </a:r>
            <a:endParaRPr sz="1400"/>
          </a:p>
          <a:p>
            <a:pPr indent="-317500" lvl="0" marL="457200" rtl="0" algn="l">
              <a:lnSpc>
                <a:spcPct val="200000"/>
              </a:lnSpc>
              <a:spcBef>
                <a:spcPts val="0"/>
              </a:spcBef>
              <a:spcAft>
                <a:spcPts val="0"/>
              </a:spcAft>
              <a:buSzPts val="1400"/>
              <a:buChar char="❏"/>
            </a:pPr>
            <a:r>
              <a:rPr lang="en" sz="1400"/>
              <a:t>Final path is obtained.</a:t>
            </a:r>
            <a:endParaRPr sz="1400"/>
          </a:p>
        </p:txBody>
      </p:sp>
      <p:pic>
        <p:nvPicPr>
          <p:cNvPr id="170" name="Google Shape;170;p26" title="aifr2 - Made with Clipchamp.mp4">
            <a:hlinkClick r:id="rId3"/>
          </p:cNvPr>
          <p:cNvPicPr preferRelativeResize="0"/>
          <p:nvPr/>
        </p:nvPicPr>
        <p:blipFill>
          <a:blip r:embed="rId4">
            <a:alphaModFix/>
          </a:blip>
          <a:stretch>
            <a:fillRect/>
          </a:stretch>
        </p:blipFill>
        <p:spPr>
          <a:xfrm>
            <a:off x="4643400" y="1274325"/>
            <a:ext cx="4348200" cy="3261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 </a:t>
            </a:r>
            <a:r>
              <a:rPr lang="en"/>
              <a:t>(Cont’d…)</a:t>
            </a:r>
            <a:endParaRPr/>
          </a:p>
        </p:txBody>
      </p:sp>
      <p:pic>
        <p:nvPicPr>
          <p:cNvPr id="176" name="Google Shape;176;p27"/>
          <p:cNvPicPr preferRelativeResize="0"/>
          <p:nvPr/>
        </p:nvPicPr>
        <p:blipFill>
          <a:blip r:embed="rId3">
            <a:alphaModFix/>
          </a:blip>
          <a:stretch>
            <a:fillRect/>
          </a:stretch>
        </p:blipFill>
        <p:spPr>
          <a:xfrm>
            <a:off x="3223124" y="3191550"/>
            <a:ext cx="2890598" cy="1898373"/>
          </a:xfrm>
          <a:prstGeom prst="rect">
            <a:avLst/>
          </a:prstGeom>
          <a:noFill/>
          <a:ln>
            <a:noFill/>
          </a:ln>
        </p:spPr>
      </p:pic>
      <p:pic>
        <p:nvPicPr>
          <p:cNvPr id="177" name="Google Shape;177;p27"/>
          <p:cNvPicPr preferRelativeResize="0"/>
          <p:nvPr/>
        </p:nvPicPr>
        <p:blipFill>
          <a:blip r:embed="rId4">
            <a:alphaModFix/>
          </a:blip>
          <a:stretch>
            <a:fillRect/>
          </a:stretch>
        </p:blipFill>
        <p:spPr>
          <a:xfrm>
            <a:off x="6326671" y="1293175"/>
            <a:ext cx="2817331" cy="1898376"/>
          </a:xfrm>
          <a:prstGeom prst="rect">
            <a:avLst/>
          </a:prstGeom>
          <a:noFill/>
          <a:ln>
            <a:noFill/>
          </a:ln>
        </p:spPr>
      </p:pic>
      <p:pic>
        <p:nvPicPr>
          <p:cNvPr id="178" name="Google Shape;178;p27"/>
          <p:cNvPicPr preferRelativeResize="0"/>
          <p:nvPr/>
        </p:nvPicPr>
        <p:blipFill>
          <a:blip r:embed="rId5">
            <a:alphaModFix/>
          </a:blip>
          <a:stretch>
            <a:fillRect/>
          </a:stretch>
        </p:blipFill>
        <p:spPr>
          <a:xfrm>
            <a:off x="0" y="1293175"/>
            <a:ext cx="3537649" cy="1898374"/>
          </a:xfrm>
          <a:prstGeom prst="rect">
            <a:avLst/>
          </a:prstGeom>
          <a:noFill/>
          <a:ln>
            <a:noFill/>
          </a:ln>
        </p:spPr>
      </p:pic>
      <p:sp>
        <p:nvSpPr>
          <p:cNvPr id="179" name="Google Shape;179;p27"/>
          <p:cNvSpPr txBox="1"/>
          <p:nvPr/>
        </p:nvSpPr>
        <p:spPr>
          <a:xfrm>
            <a:off x="727650" y="841825"/>
            <a:ext cx="111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Iteration 0:</a:t>
            </a:r>
            <a:endParaRPr>
              <a:latin typeface="Lato"/>
              <a:ea typeface="Lato"/>
              <a:cs typeface="Lato"/>
              <a:sym typeface="Lato"/>
            </a:endParaRPr>
          </a:p>
        </p:txBody>
      </p:sp>
      <p:sp>
        <p:nvSpPr>
          <p:cNvPr id="180" name="Google Shape;180;p27"/>
          <p:cNvSpPr txBox="1"/>
          <p:nvPr/>
        </p:nvSpPr>
        <p:spPr>
          <a:xfrm>
            <a:off x="407050" y="3191550"/>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environment, with start and goal nodes, is set.</a:t>
            </a:r>
            <a:endParaRPr sz="900">
              <a:latin typeface="Lato"/>
              <a:ea typeface="Lato"/>
              <a:cs typeface="Lato"/>
              <a:sym typeface="Lato"/>
            </a:endParaRPr>
          </a:p>
        </p:txBody>
      </p:sp>
      <p:sp>
        <p:nvSpPr>
          <p:cNvPr id="181" name="Google Shape;181;p27"/>
          <p:cNvSpPr txBox="1"/>
          <p:nvPr/>
        </p:nvSpPr>
        <p:spPr>
          <a:xfrm>
            <a:off x="3646413" y="1995188"/>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path is then computed.</a:t>
            </a:r>
            <a:endParaRPr sz="900">
              <a:latin typeface="Lato"/>
              <a:ea typeface="Lato"/>
              <a:cs typeface="Lato"/>
              <a:sym typeface="Lato"/>
            </a:endParaRPr>
          </a:p>
        </p:txBody>
      </p:sp>
      <p:sp>
        <p:nvSpPr>
          <p:cNvPr id="182" name="Google Shape;182;p27"/>
          <p:cNvSpPr txBox="1"/>
          <p:nvPr/>
        </p:nvSpPr>
        <p:spPr>
          <a:xfrm>
            <a:off x="6113729" y="4571350"/>
            <a:ext cx="2890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robot starts to move along computed path</a:t>
            </a:r>
            <a:endParaRPr sz="900">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 (Cont’d…)</a:t>
            </a:r>
            <a:endParaRPr/>
          </a:p>
        </p:txBody>
      </p:sp>
      <p:pic>
        <p:nvPicPr>
          <p:cNvPr id="188" name="Google Shape;188;p28"/>
          <p:cNvPicPr preferRelativeResize="0"/>
          <p:nvPr/>
        </p:nvPicPr>
        <p:blipFill>
          <a:blip r:embed="rId3">
            <a:alphaModFix/>
          </a:blip>
          <a:stretch>
            <a:fillRect/>
          </a:stretch>
        </p:blipFill>
        <p:spPr>
          <a:xfrm>
            <a:off x="3176075" y="3262275"/>
            <a:ext cx="2791844" cy="1881226"/>
          </a:xfrm>
          <a:prstGeom prst="rect">
            <a:avLst/>
          </a:prstGeom>
          <a:noFill/>
          <a:ln>
            <a:noFill/>
          </a:ln>
        </p:spPr>
      </p:pic>
      <p:pic>
        <p:nvPicPr>
          <p:cNvPr id="189" name="Google Shape;189;p28"/>
          <p:cNvPicPr preferRelativeResize="0"/>
          <p:nvPr/>
        </p:nvPicPr>
        <p:blipFill>
          <a:blip r:embed="rId4">
            <a:alphaModFix/>
          </a:blip>
          <a:stretch>
            <a:fillRect/>
          </a:stretch>
        </p:blipFill>
        <p:spPr>
          <a:xfrm>
            <a:off x="6285000" y="1335812"/>
            <a:ext cx="2858998" cy="1926466"/>
          </a:xfrm>
          <a:prstGeom prst="rect">
            <a:avLst/>
          </a:prstGeom>
          <a:noFill/>
          <a:ln>
            <a:noFill/>
          </a:ln>
        </p:spPr>
      </p:pic>
      <p:pic>
        <p:nvPicPr>
          <p:cNvPr id="190" name="Google Shape;190;p28"/>
          <p:cNvPicPr preferRelativeResize="0"/>
          <p:nvPr/>
        </p:nvPicPr>
        <p:blipFill>
          <a:blip r:embed="rId5">
            <a:alphaModFix/>
          </a:blip>
          <a:stretch>
            <a:fillRect/>
          </a:stretch>
        </p:blipFill>
        <p:spPr>
          <a:xfrm>
            <a:off x="0" y="1335812"/>
            <a:ext cx="2858998" cy="1926477"/>
          </a:xfrm>
          <a:prstGeom prst="rect">
            <a:avLst/>
          </a:prstGeom>
          <a:noFill/>
          <a:ln>
            <a:noFill/>
          </a:ln>
        </p:spPr>
      </p:pic>
      <p:sp>
        <p:nvSpPr>
          <p:cNvPr id="191" name="Google Shape;191;p28"/>
          <p:cNvSpPr txBox="1"/>
          <p:nvPr/>
        </p:nvSpPr>
        <p:spPr>
          <a:xfrm>
            <a:off x="347088" y="3262288"/>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Obstacles are randomly introduced into the environment</a:t>
            </a:r>
            <a:endParaRPr sz="900">
              <a:latin typeface="Lato"/>
              <a:ea typeface="Lato"/>
              <a:cs typeface="Lato"/>
              <a:sym typeface="Lato"/>
            </a:endParaRPr>
          </a:p>
        </p:txBody>
      </p:sp>
      <p:sp>
        <p:nvSpPr>
          <p:cNvPr id="192" name="Google Shape;192;p28"/>
          <p:cNvSpPr txBox="1"/>
          <p:nvPr/>
        </p:nvSpPr>
        <p:spPr>
          <a:xfrm>
            <a:off x="3489588" y="1944088"/>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path is then course corrected taking obstacles into account</a:t>
            </a:r>
            <a:endParaRPr sz="900">
              <a:latin typeface="Lato"/>
              <a:ea typeface="Lato"/>
              <a:cs typeface="Lato"/>
              <a:sym typeface="Lato"/>
            </a:endParaRPr>
          </a:p>
        </p:txBody>
      </p:sp>
      <p:sp>
        <p:nvSpPr>
          <p:cNvPr id="193" name="Google Shape;193;p28"/>
          <p:cNvSpPr txBox="1"/>
          <p:nvPr/>
        </p:nvSpPr>
        <p:spPr>
          <a:xfrm>
            <a:off x="5967913" y="4677463"/>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robot moves along the newly computed path and reaches goal node.</a:t>
            </a:r>
            <a:endParaRPr sz="900">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 (Cont’d…)</a:t>
            </a:r>
            <a:endParaRPr/>
          </a:p>
          <a:p>
            <a:pPr indent="0" lvl="0" marL="0" rtl="0" algn="ctr">
              <a:spcBef>
                <a:spcPts val="0"/>
              </a:spcBef>
              <a:spcAft>
                <a:spcPts val="0"/>
              </a:spcAft>
              <a:buNone/>
            </a:pPr>
            <a:r>
              <a:t/>
            </a:r>
            <a:endParaRPr/>
          </a:p>
        </p:txBody>
      </p:sp>
      <p:sp>
        <p:nvSpPr>
          <p:cNvPr id="199" name="Google Shape;199;p29"/>
          <p:cNvSpPr txBox="1"/>
          <p:nvPr/>
        </p:nvSpPr>
        <p:spPr>
          <a:xfrm>
            <a:off x="727650" y="841825"/>
            <a:ext cx="111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Iteration 1:</a:t>
            </a:r>
            <a:endParaRPr>
              <a:latin typeface="Lato"/>
              <a:ea typeface="Lato"/>
              <a:cs typeface="Lato"/>
              <a:sym typeface="Lato"/>
            </a:endParaRPr>
          </a:p>
        </p:txBody>
      </p:sp>
      <p:pic>
        <p:nvPicPr>
          <p:cNvPr id="200" name="Google Shape;200;p29"/>
          <p:cNvPicPr preferRelativeResize="0"/>
          <p:nvPr/>
        </p:nvPicPr>
        <p:blipFill>
          <a:blip r:embed="rId3">
            <a:alphaModFix/>
          </a:blip>
          <a:stretch>
            <a:fillRect/>
          </a:stretch>
        </p:blipFill>
        <p:spPr>
          <a:xfrm>
            <a:off x="2936512" y="2997300"/>
            <a:ext cx="3270973" cy="2148170"/>
          </a:xfrm>
          <a:prstGeom prst="rect">
            <a:avLst/>
          </a:prstGeom>
          <a:noFill/>
          <a:ln>
            <a:noFill/>
          </a:ln>
        </p:spPr>
      </p:pic>
      <p:pic>
        <p:nvPicPr>
          <p:cNvPr id="201" name="Google Shape;201;p29"/>
          <p:cNvPicPr preferRelativeResize="0"/>
          <p:nvPr/>
        </p:nvPicPr>
        <p:blipFill>
          <a:blip r:embed="rId4">
            <a:alphaModFix/>
          </a:blip>
          <a:stretch>
            <a:fillRect/>
          </a:stretch>
        </p:blipFill>
        <p:spPr>
          <a:xfrm>
            <a:off x="6207475" y="1121925"/>
            <a:ext cx="2936525" cy="1960063"/>
          </a:xfrm>
          <a:prstGeom prst="rect">
            <a:avLst/>
          </a:prstGeom>
          <a:noFill/>
          <a:ln>
            <a:noFill/>
          </a:ln>
        </p:spPr>
      </p:pic>
      <p:pic>
        <p:nvPicPr>
          <p:cNvPr id="202" name="Google Shape;202;p29"/>
          <p:cNvPicPr preferRelativeResize="0"/>
          <p:nvPr/>
        </p:nvPicPr>
        <p:blipFill>
          <a:blip r:embed="rId5">
            <a:alphaModFix/>
          </a:blip>
          <a:stretch>
            <a:fillRect/>
          </a:stretch>
        </p:blipFill>
        <p:spPr>
          <a:xfrm>
            <a:off x="0" y="1242026"/>
            <a:ext cx="3270973" cy="1755276"/>
          </a:xfrm>
          <a:prstGeom prst="rect">
            <a:avLst/>
          </a:prstGeom>
          <a:noFill/>
          <a:ln>
            <a:noFill/>
          </a:ln>
        </p:spPr>
      </p:pic>
      <p:sp>
        <p:nvSpPr>
          <p:cNvPr id="203" name="Google Shape;203;p29"/>
          <p:cNvSpPr txBox="1"/>
          <p:nvPr/>
        </p:nvSpPr>
        <p:spPr>
          <a:xfrm>
            <a:off x="200238" y="3117388"/>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In the next iteration, the previous goal node is now the start node.</a:t>
            </a:r>
            <a:endParaRPr sz="900">
              <a:latin typeface="Lato"/>
              <a:ea typeface="Lato"/>
              <a:cs typeface="Lato"/>
              <a:sym typeface="Lato"/>
            </a:endParaRPr>
          </a:p>
        </p:txBody>
      </p:sp>
      <p:sp>
        <p:nvSpPr>
          <p:cNvPr id="204" name="Google Shape;204;p29"/>
          <p:cNvSpPr txBox="1"/>
          <p:nvPr/>
        </p:nvSpPr>
        <p:spPr>
          <a:xfrm>
            <a:off x="6133450" y="4602088"/>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robot starts moving along the path.</a:t>
            </a:r>
            <a:endParaRPr sz="900">
              <a:latin typeface="Lato"/>
              <a:ea typeface="Lato"/>
              <a:cs typeface="Lato"/>
              <a:sym typeface="Lato"/>
            </a:endParaRPr>
          </a:p>
        </p:txBody>
      </p:sp>
      <p:sp>
        <p:nvSpPr>
          <p:cNvPr id="205" name="Google Shape;205;p29"/>
          <p:cNvSpPr txBox="1"/>
          <p:nvPr/>
        </p:nvSpPr>
        <p:spPr>
          <a:xfrm>
            <a:off x="3489588" y="1898050"/>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path is then computed.</a:t>
            </a:r>
            <a:endParaRPr sz="9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 (Cont’d…)</a:t>
            </a:r>
            <a:endParaRPr/>
          </a:p>
          <a:p>
            <a:pPr indent="0" lvl="0" marL="0" rtl="0" algn="ctr">
              <a:spcBef>
                <a:spcPts val="0"/>
              </a:spcBef>
              <a:spcAft>
                <a:spcPts val="0"/>
              </a:spcAft>
              <a:buNone/>
            </a:pPr>
            <a:r>
              <a:t/>
            </a:r>
            <a:endParaRPr/>
          </a:p>
        </p:txBody>
      </p:sp>
      <p:pic>
        <p:nvPicPr>
          <p:cNvPr id="211" name="Google Shape;211;p30"/>
          <p:cNvPicPr preferRelativeResize="0"/>
          <p:nvPr/>
        </p:nvPicPr>
        <p:blipFill>
          <a:blip r:embed="rId3">
            <a:alphaModFix/>
          </a:blip>
          <a:stretch>
            <a:fillRect/>
          </a:stretch>
        </p:blipFill>
        <p:spPr>
          <a:xfrm>
            <a:off x="5662650" y="1736800"/>
            <a:ext cx="3148477" cy="2101554"/>
          </a:xfrm>
          <a:prstGeom prst="rect">
            <a:avLst/>
          </a:prstGeom>
          <a:noFill/>
          <a:ln>
            <a:noFill/>
          </a:ln>
        </p:spPr>
      </p:pic>
      <p:pic>
        <p:nvPicPr>
          <p:cNvPr id="212" name="Google Shape;212;p30"/>
          <p:cNvPicPr preferRelativeResize="0"/>
          <p:nvPr/>
        </p:nvPicPr>
        <p:blipFill>
          <a:blip r:embed="rId4">
            <a:alphaModFix/>
          </a:blip>
          <a:stretch>
            <a:fillRect/>
          </a:stretch>
        </p:blipFill>
        <p:spPr>
          <a:xfrm>
            <a:off x="274350" y="1736803"/>
            <a:ext cx="3148477" cy="2121502"/>
          </a:xfrm>
          <a:prstGeom prst="rect">
            <a:avLst/>
          </a:prstGeom>
          <a:noFill/>
          <a:ln>
            <a:noFill/>
          </a:ln>
        </p:spPr>
      </p:pic>
      <p:sp>
        <p:nvSpPr>
          <p:cNvPr id="213" name="Google Shape;213;p30"/>
          <p:cNvSpPr txBox="1"/>
          <p:nvPr/>
        </p:nvSpPr>
        <p:spPr>
          <a:xfrm>
            <a:off x="766175" y="4039638"/>
            <a:ext cx="2164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Pre-defined obstacles are once again introduced into the environment using </a:t>
            </a:r>
            <a:r>
              <a:rPr lang="en" sz="900">
                <a:latin typeface="Lato"/>
                <a:ea typeface="Lato"/>
                <a:cs typeface="Lato"/>
                <a:sym typeface="Lato"/>
              </a:rPr>
              <a:t>random</a:t>
            </a:r>
            <a:r>
              <a:rPr lang="en" sz="900">
                <a:latin typeface="Lato"/>
                <a:ea typeface="Lato"/>
                <a:cs typeface="Lato"/>
                <a:sym typeface="Lato"/>
              </a:rPr>
              <a:t>().</a:t>
            </a:r>
            <a:endParaRPr sz="900">
              <a:latin typeface="Lato"/>
              <a:ea typeface="Lato"/>
              <a:cs typeface="Lato"/>
              <a:sym typeface="Lato"/>
            </a:endParaRPr>
          </a:p>
        </p:txBody>
      </p:sp>
      <p:sp>
        <p:nvSpPr>
          <p:cNvPr id="214" name="Google Shape;214;p30"/>
          <p:cNvSpPr txBox="1"/>
          <p:nvPr/>
        </p:nvSpPr>
        <p:spPr>
          <a:xfrm>
            <a:off x="6251538" y="4039638"/>
            <a:ext cx="2164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However, here, the obstacles do not block the previously computed path and so, a new path is not computed.</a:t>
            </a:r>
            <a:endParaRPr sz="900">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 (Cont’d…)</a:t>
            </a:r>
            <a:endParaRPr/>
          </a:p>
          <a:p>
            <a:pPr indent="0" lvl="0" marL="0" rtl="0" algn="ctr">
              <a:spcBef>
                <a:spcPts val="0"/>
              </a:spcBef>
              <a:spcAft>
                <a:spcPts val="0"/>
              </a:spcAft>
              <a:buNone/>
            </a:pPr>
            <a:r>
              <a:t/>
            </a:r>
            <a:endParaRPr/>
          </a:p>
        </p:txBody>
      </p:sp>
      <p:sp>
        <p:nvSpPr>
          <p:cNvPr id="220" name="Google Shape;220;p31"/>
          <p:cNvSpPr txBox="1"/>
          <p:nvPr/>
        </p:nvSpPr>
        <p:spPr>
          <a:xfrm>
            <a:off x="727650" y="841825"/>
            <a:ext cx="111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Iteration 2:</a:t>
            </a:r>
            <a:endParaRPr>
              <a:latin typeface="Lato"/>
              <a:ea typeface="Lato"/>
              <a:cs typeface="Lato"/>
              <a:sym typeface="Lato"/>
            </a:endParaRPr>
          </a:p>
        </p:txBody>
      </p:sp>
      <p:pic>
        <p:nvPicPr>
          <p:cNvPr id="221" name="Google Shape;221;p31"/>
          <p:cNvPicPr preferRelativeResize="0"/>
          <p:nvPr/>
        </p:nvPicPr>
        <p:blipFill>
          <a:blip r:embed="rId3">
            <a:alphaModFix/>
          </a:blip>
          <a:stretch>
            <a:fillRect/>
          </a:stretch>
        </p:blipFill>
        <p:spPr>
          <a:xfrm>
            <a:off x="2941025" y="3228576"/>
            <a:ext cx="2915850" cy="1914924"/>
          </a:xfrm>
          <a:prstGeom prst="rect">
            <a:avLst/>
          </a:prstGeom>
          <a:noFill/>
          <a:ln>
            <a:noFill/>
          </a:ln>
        </p:spPr>
      </p:pic>
      <p:pic>
        <p:nvPicPr>
          <p:cNvPr id="222" name="Google Shape;222;p31"/>
          <p:cNvPicPr preferRelativeResize="0"/>
          <p:nvPr/>
        </p:nvPicPr>
        <p:blipFill>
          <a:blip r:embed="rId4">
            <a:alphaModFix/>
          </a:blip>
          <a:stretch>
            <a:fillRect/>
          </a:stretch>
        </p:blipFill>
        <p:spPr>
          <a:xfrm>
            <a:off x="6245450" y="1429575"/>
            <a:ext cx="2639749" cy="1761974"/>
          </a:xfrm>
          <a:prstGeom prst="rect">
            <a:avLst/>
          </a:prstGeom>
          <a:noFill/>
          <a:ln>
            <a:noFill/>
          </a:ln>
        </p:spPr>
      </p:pic>
      <p:pic>
        <p:nvPicPr>
          <p:cNvPr id="223" name="Google Shape;223;p31"/>
          <p:cNvPicPr preferRelativeResize="0"/>
          <p:nvPr/>
        </p:nvPicPr>
        <p:blipFill>
          <a:blip r:embed="rId5">
            <a:alphaModFix/>
          </a:blip>
          <a:stretch>
            <a:fillRect/>
          </a:stretch>
        </p:blipFill>
        <p:spPr>
          <a:xfrm>
            <a:off x="0" y="1429575"/>
            <a:ext cx="3352474" cy="1799000"/>
          </a:xfrm>
          <a:prstGeom prst="rect">
            <a:avLst/>
          </a:prstGeom>
          <a:noFill/>
          <a:ln>
            <a:noFill/>
          </a:ln>
        </p:spPr>
      </p:pic>
      <p:sp>
        <p:nvSpPr>
          <p:cNvPr id="224" name="Google Shape;224;p31"/>
          <p:cNvSpPr txBox="1"/>
          <p:nvPr/>
        </p:nvSpPr>
        <p:spPr>
          <a:xfrm>
            <a:off x="200238" y="3286613"/>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new start node is the previous goal node.</a:t>
            </a:r>
            <a:endParaRPr sz="900">
              <a:latin typeface="Lato"/>
              <a:ea typeface="Lato"/>
              <a:cs typeface="Lato"/>
              <a:sym typeface="Lato"/>
            </a:endParaRPr>
          </a:p>
        </p:txBody>
      </p:sp>
      <p:sp>
        <p:nvSpPr>
          <p:cNvPr id="225" name="Google Shape;225;p31"/>
          <p:cNvSpPr txBox="1"/>
          <p:nvPr/>
        </p:nvSpPr>
        <p:spPr>
          <a:xfrm>
            <a:off x="3489588" y="1953313"/>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path is then computed.</a:t>
            </a:r>
            <a:endParaRPr sz="900">
              <a:latin typeface="Lato"/>
              <a:ea typeface="Lato"/>
              <a:cs typeface="Lato"/>
              <a:sym typeface="Lato"/>
            </a:endParaRPr>
          </a:p>
        </p:txBody>
      </p:sp>
      <p:sp>
        <p:nvSpPr>
          <p:cNvPr id="226" name="Google Shape;226;p31"/>
          <p:cNvSpPr txBox="1"/>
          <p:nvPr/>
        </p:nvSpPr>
        <p:spPr>
          <a:xfrm>
            <a:off x="6482913" y="4024475"/>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robot starts moving along the path.</a:t>
            </a:r>
            <a:endParaRPr sz="900">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 Lite: Results (Cont’d…)</a:t>
            </a:r>
            <a:endParaRPr/>
          </a:p>
          <a:p>
            <a:pPr indent="0" lvl="0" marL="0" rtl="0" algn="ctr">
              <a:spcBef>
                <a:spcPts val="0"/>
              </a:spcBef>
              <a:spcAft>
                <a:spcPts val="0"/>
              </a:spcAft>
              <a:buNone/>
            </a:pPr>
            <a:r>
              <a:t/>
            </a:r>
            <a:endParaRPr/>
          </a:p>
        </p:txBody>
      </p:sp>
      <p:pic>
        <p:nvPicPr>
          <p:cNvPr id="232" name="Google Shape;232;p32"/>
          <p:cNvPicPr preferRelativeResize="0"/>
          <p:nvPr/>
        </p:nvPicPr>
        <p:blipFill>
          <a:blip r:embed="rId3">
            <a:alphaModFix/>
          </a:blip>
          <a:stretch>
            <a:fillRect/>
          </a:stretch>
        </p:blipFill>
        <p:spPr>
          <a:xfrm>
            <a:off x="2932525" y="3192775"/>
            <a:ext cx="2922506" cy="1950726"/>
          </a:xfrm>
          <a:prstGeom prst="rect">
            <a:avLst/>
          </a:prstGeom>
          <a:noFill/>
          <a:ln>
            <a:noFill/>
          </a:ln>
        </p:spPr>
      </p:pic>
      <p:pic>
        <p:nvPicPr>
          <p:cNvPr id="233" name="Google Shape;233;p32"/>
          <p:cNvPicPr preferRelativeResize="0"/>
          <p:nvPr/>
        </p:nvPicPr>
        <p:blipFill>
          <a:blip r:embed="rId4">
            <a:alphaModFix/>
          </a:blip>
          <a:stretch>
            <a:fillRect/>
          </a:stretch>
        </p:blipFill>
        <p:spPr>
          <a:xfrm>
            <a:off x="5855036" y="1229400"/>
            <a:ext cx="2926828" cy="1950725"/>
          </a:xfrm>
          <a:prstGeom prst="rect">
            <a:avLst/>
          </a:prstGeom>
          <a:noFill/>
          <a:ln>
            <a:noFill/>
          </a:ln>
        </p:spPr>
      </p:pic>
      <p:pic>
        <p:nvPicPr>
          <p:cNvPr id="234" name="Google Shape;234;p32"/>
          <p:cNvPicPr preferRelativeResize="0"/>
          <p:nvPr/>
        </p:nvPicPr>
        <p:blipFill>
          <a:blip r:embed="rId5">
            <a:alphaModFix/>
          </a:blip>
          <a:stretch>
            <a:fillRect/>
          </a:stretch>
        </p:blipFill>
        <p:spPr>
          <a:xfrm>
            <a:off x="0" y="1216750"/>
            <a:ext cx="2932526" cy="1976025"/>
          </a:xfrm>
          <a:prstGeom prst="rect">
            <a:avLst/>
          </a:prstGeom>
          <a:noFill/>
          <a:ln>
            <a:noFill/>
          </a:ln>
        </p:spPr>
      </p:pic>
      <p:sp>
        <p:nvSpPr>
          <p:cNvPr id="235" name="Google Shape;235;p32"/>
          <p:cNvSpPr txBox="1"/>
          <p:nvPr/>
        </p:nvSpPr>
        <p:spPr>
          <a:xfrm>
            <a:off x="383850" y="3287588"/>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Obstacles are introduced.</a:t>
            </a:r>
            <a:endParaRPr sz="900">
              <a:latin typeface="Lato"/>
              <a:ea typeface="Lato"/>
              <a:cs typeface="Lato"/>
              <a:sym typeface="Lato"/>
            </a:endParaRPr>
          </a:p>
        </p:txBody>
      </p:sp>
      <p:sp>
        <p:nvSpPr>
          <p:cNvPr id="236" name="Google Shape;236;p32"/>
          <p:cNvSpPr txBox="1"/>
          <p:nvPr/>
        </p:nvSpPr>
        <p:spPr>
          <a:xfrm>
            <a:off x="3364013" y="1916313"/>
            <a:ext cx="2164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path is recomputed.</a:t>
            </a:r>
            <a:endParaRPr sz="900">
              <a:latin typeface="Lato"/>
              <a:ea typeface="Lato"/>
              <a:cs typeface="Lato"/>
              <a:sym typeface="Lato"/>
            </a:endParaRPr>
          </a:p>
        </p:txBody>
      </p:sp>
      <p:sp>
        <p:nvSpPr>
          <p:cNvPr id="237" name="Google Shape;237;p32"/>
          <p:cNvSpPr txBox="1"/>
          <p:nvPr/>
        </p:nvSpPr>
        <p:spPr>
          <a:xfrm>
            <a:off x="6236038" y="4464688"/>
            <a:ext cx="216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Lato"/>
                <a:ea typeface="Lato"/>
                <a:cs typeface="Lato"/>
                <a:sym typeface="Lato"/>
              </a:rPr>
              <a:t>The robot moves along the course corrected path.</a:t>
            </a:r>
            <a:endParaRPr sz="900">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box2d: Results</a:t>
            </a:r>
            <a:endParaRPr/>
          </a:p>
        </p:txBody>
      </p:sp>
      <p:sp>
        <p:nvSpPr>
          <p:cNvPr id="243" name="Google Shape;243;p33"/>
          <p:cNvSpPr txBox="1"/>
          <p:nvPr>
            <p:ph idx="1" type="body"/>
          </p:nvPr>
        </p:nvSpPr>
        <p:spPr>
          <a:xfrm>
            <a:off x="203525" y="1202475"/>
            <a:ext cx="3746700" cy="39411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SzPts val="1500"/>
              <a:buChar char="❏"/>
            </a:pPr>
            <a:r>
              <a:rPr lang="en" sz="1500"/>
              <a:t>The robot starts at (10,10) and moves forward until it detects an obstacle.</a:t>
            </a:r>
            <a:endParaRPr sz="1500"/>
          </a:p>
          <a:p>
            <a:pPr indent="-323850" lvl="0" marL="457200" rtl="0" algn="l">
              <a:lnSpc>
                <a:spcPct val="150000"/>
              </a:lnSpc>
              <a:spcBef>
                <a:spcPts val="0"/>
              </a:spcBef>
              <a:spcAft>
                <a:spcPts val="0"/>
              </a:spcAft>
              <a:buSzPts val="1500"/>
              <a:buChar char="❏"/>
            </a:pPr>
            <a:r>
              <a:rPr lang="en" sz="1500"/>
              <a:t>The different states of the robots are by functions in a finite state machine.</a:t>
            </a:r>
            <a:endParaRPr sz="1500"/>
          </a:p>
          <a:p>
            <a:pPr indent="-323850" lvl="0" marL="457200" rtl="0" algn="l">
              <a:lnSpc>
                <a:spcPct val="150000"/>
              </a:lnSpc>
              <a:spcBef>
                <a:spcPts val="0"/>
              </a:spcBef>
              <a:spcAft>
                <a:spcPts val="0"/>
              </a:spcAft>
              <a:buSzPts val="1500"/>
              <a:buChar char="❏"/>
            </a:pPr>
            <a:r>
              <a:rPr lang="en" sz="1500"/>
              <a:t>It continuously measures the distance of the obstacle that is in front of it.</a:t>
            </a:r>
            <a:endParaRPr sz="1500"/>
          </a:p>
          <a:p>
            <a:pPr indent="-323850" lvl="0" marL="457200" rtl="0" algn="l">
              <a:lnSpc>
                <a:spcPct val="150000"/>
              </a:lnSpc>
              <a:spcBef>
                <a:spcPts val="0"/>
              </a:spcBef>
              <a:spcAft>
                <a:spcPts val="0"/>
              </a:spcAft>
              <a:buSzPts val="1500"/>
              <a:buChar char="❏"/>
            </a:pPr>
            <a:r>
              <a:rPr lang="en" sz="1500"/>
              <a:t>If the obstacle distance&lt;8 units, the robot stops.</a:t>
            </a:r>
            <a:endParaRPr sz="1600"/>
          </a:p>
        </p:txBody>
      </p:sp>
      <p:pic>
        <p:nvPicPr>
          <p:cNvPr id="244" name="Google Shape;244;p33" title="cateringrobotsim.mp4">
            <a:hlinkClick r:id="rId3"/>
          </p:cNvPr>
          <p:cNvPicPr preferRelativeResize="0"/>
          <p:nvPr/>
        </p:nvPicPr>
        <p:blipFill>
          <a:blip r:embed="rId4">
            <a:alphaModFix/>
          </a:blip>
          <a:stretch>
            <a:fillRect/>
          </a:stretch>
        </p:blipFill>
        <p:spPr>
          <a:xfrm>
            <a:off x="4017550" y="1202475"/>
            <a:ext cx="4572000" cy="3429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FastSLAM: </a:t>
            </a:r>
            <a:r>
              <a:rPr lang="en"/>
              <a:t>Results</a:t>
            </a:r>
            <a:endParaRPr/>
          </a:p>
        </p:txBody>
      </p:sp>
      <p:pic>
        <p:nvPicPr>
          <p:cNvPr id="250" name="Google Shape;250;p34" title="cateringrobotslamfinal.mp4">
            <a:hlinkClick r:id="rId3"/>
          </p:cNvPr>
          <p:cNvPicPr preferRelativeResize="0"/>
          <p:nvPr/>
        </p:nvPicPr>
        <p:blipFill>
          <a:blip r:embed="rId4">
            <a:alphaModFix/>
          </a:blip>
          <a:stretch>
            <a:fillRect/>
          </a:stretch>
        </p:blipFill>
        <p:spPr>
          <a:xfrm>
            <a:off x="3844350" y="1344475"/>
            <a:ext cx="4572000" cy="3429000"/>
          </a:xfrm>
          <a:prstGeom prst="rect">
            <a:avLst/>
          </a:prstGeom>
          <a:noFill/>
          <a:ln>
            <a:noFill/>
          </a:ln>
        </p:spPr>
      </p:pic>
      <p:sp>
        <p:nvSpPr>
          <p:cNvPr id="251" name="Google Shape;251;p34"/>
          <p:cNvSpPr txBox="1"/>
          <p:nvPr/>
        </p:nvSpPr>
        <p:spPr>
          <a:xfrm>
            <a:off x="0" y="1344475"/>
            <a:ext cx="3844500" cy="3632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A restaurant-like environment has been created, with 9 tables, each of 8 points, which act as landmarks..</a:t>
            </a:r>
            <a:endParaRPr>
              <a:solidFill>
                <a:schemeClr val="accent1"/>
              </a:solidFill>
              <a:latin typeface="Lato"/>
              <a:ea typeface="Lato"/>
              <a:cs typeface="Lato"/>
              <a:sym typeface="Lato"/>
            </a:endParaRPr>
          </a:p>
          <a:p>
            <a:pPr indent="-317500" lvl="0" marL="457200" rtl="0" algn="l">
              <a:lnSpc>
                <a:spcPct val="150000"/>
              </a:lnSpc>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Here, the robot moves in an arc.</a:t>
            </a:r>
            <a:endParaRPr>
              <a:solidFill>
                <a:schemeClr val="accent1"/>
              </a:solidFill>
              <a:latin typeface="Lato"/>
              <a:ea typeface="Lato"/>
              <a:cs typeface="Lato"/>
              <a:sym typeface="Lato"/>
            </a:endParaRPr>
          </a:p>
          <a:p>
            <a:pPr indent="-317500" lvl="0" marL="457200" rtl="0" algn="l">
              <a:lnSpc>
                <a:spcPct val="150000"/>
              </a:lnSpc>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The estimated landmarks are found, and then the trajectories (both true and estimated) are plotted step by step.</a:t>
            </a:r>
            <a:endParaRPr>
              <a:solidFill>
                <a:schemeClr val="accent1"/>
              </a:solidFill>
              <a:latin typeface="Lato"/>
              <a:ea typeface="Lato"/>
              <a:cs typeface="Lato"/>
              <a:sym typeface="Lato"/>
            </a:endParaRPr>
          </a:p>
          <a:p>
            <a:pPr indent="-317500" lvl="0" marL="457200" rtl="0" algn="l">
              <a:lnSpc>
                <a:spcPct val="150000"/>
              </a:lnSpc>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The algorithm uses a particle filter for sampling robot paths, and extended Kalman filters for representing maps acquired by the vehicle. </a:t>
            </a:r>
            <a:endParaRPr>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FastSLAM: Results (cont’d…)</a:t>
            </a:r>
            <a:endParaRPr/>
          </a:p>
        </p:txBody>
      </p:sp>
      <p:pic>
        <p:nvPicPr>
          <p:cNvPr id="257" name="Google Shape;257;p35"/>
          <p:cNvPicPr preferRelativeResize="0"/>
          <p:nvPr/>
        </p:nvPicPr>
        <p:blipFill>
          <a:blip r:embed="rId3">
            <a:alphaModFix/>
          </a:blip>
          <a:stretch>
            <a:fillRect/>
          </a:stretch>
        </p:blipFill>
        <p:spPr>
          <a:xfrm>
            <a:off x="0" y="1339075"/>
            <a:ext cx="2826449" cy="1898749"/>
          </a:xfrm>
          <a:prstGeom prst="rect">
            <a:avLst/>
          </a:prstGeom>
          <a:noFill/>
          <a:ln>
            <a:noFill/>
          </a:ln>
        </p:spPr>
      </p:pic>
      <p:pic>
        <p:nvPicPr>
          <p:cNvPr id="258" name="Google Shape;258;p35"/>
          <p:cNvPicPr preferRelativeResize="0"/>
          <p:nvPr/>
        </p:nvPicPr>
        <p:blipFill>
          <a:blip r:embed="rId4">
            <a:alphaModFix/>
          </a:blip>
          <a:stretch>
            <a:fillRect/>
          </a:stretch>
        </p:blipFill>
        <p:spPr>
          <a:xfrm>
            <a:off x="3106650" y="1341999"/>
            <a:ext cx="2826449" cy="1892921"/>
          </a:xfrm>
          <a:prstGeom prst="rect">
            <a:avLst/>
          </a:prstGeom>
          <a:noFill/>
          <a:ln>
            <a:noFill/>
          </a:ln>
        </p:spPr>
      </p:pic>
      <p:pic>
        <p:nvPicPr>
          <p:cNvPr id="259" name="Google Shape;259;p35"/>
          <p:cNvPicPr preferRelativeResize="0"/>
          <p:nvPr/>
        </p:nvPicPr>
        <p:blipFill>
          <a:blip r:embed="rId5">
            <a:alphaModFix/>
          </a:blip>
          <a:stretch>
            <a:fillRect/>
          </a:stretch>
        </p:blipFill>
        <p:spPr>
          <a:xfrm>
            <a:off x="6321650" y="1341975"/>
            <a:ext cx="2772895" cy="1892924"/>
          </a:xfrm>
          <a:prstGeom prst="rect">
            <a:avLst/>
          </a:prstGeom>
          <a:noFill/>
          <a:ln>
            <a:noFill/>
          </a:ln>
        </p:spPr>
      </p:pic>
      <p:sp>
        <p:nvSpPr>
          <p:cNvPr id="260" name="Google Shape;260;p35"/>
          <p:cNvSpPr txBox="1"/>
          <p:nvPr/>
        </p:nvSpPr>
        <p:spPr>
          <a:xfrm>
            <a:off x="417075" y="3413575"/>
            <a:ext cx="820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latin typeface="Lato"/>
                <a:ea typeface="Lato"/>
                <a:cs typeface="Lato"/>
                <a:sym typeface="Lato"/>
              </a:rPr>
              <a:t>We have then </a:t>
            </a:r>
            <a:r>
              <a:rPr lang="en">
                <a:solidFill>
                  <a:schemeClr val="accent1"/>
                </a:solidFill>
                <a:latin typeface="Lato"/>
                <a:ea typeface="Lato"/>
                <a:cs typeface="Lato"/>
                <a:sym typeface="Lato"/>
              </a:rPr>
              <a:t>extracted the true range as well as estimated range values from the sensor measurements for x, y and omega (rate of change of angle). We have then plotted them against time in the same plot for estimated and true for comparison.</a:t>
            </a:r>
            <a:endParaRPr>
              <a:solidFill>
                <a:schemeClr val="accent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6"/>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Conclusions</a:t>
            </a:r>
            <a:endParaRPr/>
          </a:p>
        </p:txBody>
      </p:sp>
      <p:sp>
        <p:nvSpPr>
          <p:cNvPr id="266" name="Google Shape;266;p36"/>
          <p:cNvSpPr txBox="1"/>
          <p:nvPr>
            <p:ph idx="1" type="body"/>
          </p:nvPr>
        </p:nvSpPr>
        <p:spPr>
          <a:xfrm>
            <a:off x="120250" y="1308900"/>
            <a:ext cx="9023700" cy="3834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500"/>
              <a:t>In this project, we have tackled various problems with respect to a catering robot. Improvements can be made to the approaches here and there is scope to extend it:</a:t>
            </a:r>
            <a:endParaRPr sz="1500"/>
          </a:p>
          <a:p>
            <a:pPr indent="-323850" lvl="0" marL="457200" rtl="0" algn="l">
              <a:lnSpc>
                <a:spcPct val="150000"/>
              </a:lnSpc>
              <a:spcBef>
                <a:spcPts val="1200"/>
              </a:spcBef>
              <a:spcAft>
                <a:spcPts val="0"/>
              </a:spcAft>
              <a:buSzPts val="1500"/>
              <a:buChar char="❏"/>
            </a:pPr>
            <a:r>
              <a:rPr lang="en" sz="1500"/>
              <a:t>In the box2d simulation, working with the sensors proved to be complicated. Extracting and analysing these values can be useful.</a:t>
            </a:r>
            <a:endParaRPr sz="1500"/>
          </a:p>
          <a:p>
            <a:pPr indent="-323850" lvl="0" marL="457200" rtl="0" algn="l">
              <a:lnSpc>
                <a:spcPct val="150000"/>
              </a:lnSpc>
              <a:spcBef>
                <a:spcPts val="0"/>
              </a:spcBef>
              <a:spcAft>
                <a:spcPts val="0"/>
              </a:spcAft>
              <a:buSzPts val="1500"/>
              <a:buChar char="❏"/>
            </a:pPr>
            <a:r>
              <a:rPr lang="en" sz="1500"/>
              <a:t>For path planning, further </a:t>
            </a:r>
            <a:r>
              <a:rPr lang="en" sz="1500"/>
              <a:t>uncertainty</a:t>
            </a:r>
            <a:r>
              <a:rPr lang="en" sz="1500"/>
              <a:t> and dynamic obstacles can be implemented to get a more general model.</a:t>
            </a:r>
            <a:endParaRPr sz="1500"/>
          </a:p>
          <a:p>
            <a:pPr indent="-323850" lvl="0" marL="457200" rtl="0" algn="l">
              <a:lnSpc>
                <a:spcPct val="150000"/>
              </a:lnSpc>
              <a:spcBef>
                <a:spcPts val="0"/>
              </a:spcBef>
              <a:spcAft>
                <a:spcPts val="0"/>
              </a:spcAft>
              <a:buSzPts val="1500"/>
              <a:buChar char="❏"/>
            </a:pPr>
            <a:r>
              <a:rPr lang="en" sz="1500"/>
              <a:t>Exploring newer approaches to the SLAM problem can be done so as to get a much more comprehensive map and better understanding of localization.</a:t>
            </a:r>
            <a:endParaRPr sz="1500"/>
          </a:p>
          <a:p>
            <a:pPr indent="-323850" lvl="0" marL="457200" rtl="0" algn="l">
              <a:lnSpc>
                <a:spcPct val="150000"/>
              </a:lnSpc>
              <a:spcBef>
                <a:spcPts val="0"/>
              </a:spcBef>
              <a:spcAft>
                <a:spcPts val="0"/>
              </a:spcAft>
              <a:buSzPts val="1500"/>
              <a:buChar char="❏"/>
            </a:pPr>
            <a:r>
              <a:rPr lang="en" sz="1500"/>
              <a:t>Integrating</a:t>
            </a:r>
            <a:r>
              <a:rPr lang="en" sz="1500"/>
              <a:t> these aspects to a Mobile Robot can be done and tested.</a:t>
            </a:r>
            <a:endParaRPr sz="1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References</a:t>
            </a:r>
            <a:endParaRPr/>
          </a:p>
        </p:txBody>
      </p:sp>
      <p:sp>
        <p:nvSpPr>
          <p:cNvPr id="272" name="Google Shape;272;p37"/>
          <p:cNvSpPr txBox="1"/>
          <p:nvPr>
            <p:ph idx="1" type="body"/>
          </p:nvPr>
        </p:nvSpPr>
        <p:spPr>
          <a:xfrm>
            <a:off x="0" y="1493925"/>
            <a:ext cx="9144000" cy="36495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SzPts val="1500"/>
              <a:buChar char="❏"/>
            </a:pPr>
            <a:r>
              <a:rPr lang="en" sz="1500" u="sng">
                <a:solidFill>
                  <a:schemeClr val="hlink"/>
                </a:solidFill>
                <a:hlinkClick r:id="rId3"/>
              </a:rPr>
              <a:t>https://www.researchgate.net/publication/251945230_Catering_Service_Robot</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4"/>
              </a:rPr>
              <a:t>https://www.sciencedirect.com/science/article/pii/S1877050918309967</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5"/>
              </a:rPr>
              <a:t>https://www.pudurobotics.com/product/detail/bellabot</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6"/>
              </a:rPr>
              <a:t>http://idm-lab.org/bib/abstracts/papers/aaai02b.pdf</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7"/>
              </a:rPr>
              <a:t>https://github.com/AtsushiSakai/PythonRobotics</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8"/>
              </a:rPr>
              <a:t>https://github.com/bblais/RobotSim373</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9"/>
              </a:rPr>
              <a:t>http://robots.stanford.edu/papers/Thrun03g.pdf</a:t>
            </a:r>
            <a:endParaRPr sz="1500"/>
          </a:p>
          <a:p>
            <a:pPr indent="-323850" lvl="0" marL="457200" rtl="0" algn="l">
              <a:lnSpc>
                <a:spcPct val="150000"/>
              </a:lnSpc>
              <a:spcBef>
                <a:spcPts val="0"/>
              </a:spcBef>
              <a:spcAft>
                <a:spcPts val="0"/>
              </a:spcAft>
              <a:buSzPts val="1500"/>
              <a:buChar char="❏"/>
            </a:pPr>
            <a:r>
              <a:rPr lang="en" sz="1500" u="sng">
                <a:solidFill>
                  <a:schemeClr val="hlink"/>
                </a:solidFill>
                <a:hlinkClick r:id="rId10"/>
              </a:rPr>
              <a:t>https://arxiv.org/abs/1808.10703</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Team</a:t>
            </a:r>
            <a:endParaRPr/>
          </a:p>
        </p:txBody>
      </p:sp>
      <p:sp>
        <p:nvSpPr>
          <p:cNvPr id="278" name="Google Shape;278;p38"/>
          <p:cNvSpPr txBox="1"/>
          <p:nvPr>
            <p:ph idx="1" type="body"/>
          </p:nvPr>
        </p:nvSpPr>
        <p:spPr>
          <a:xfrm>
            <a:off x="729450" y="1493925"/>
            <a:ext cx="7688700" cy="2846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latin typeface="Lato Black"/>
                <a:ea typeface="Lato Black"/>
                <a:cs typeface="Lato Black"/>
                <a:sym typeface="Lato Black"/>
              </a:rPr>
              <a:t>Ankit Ashok</a:t>
            </a:r>
            <a:endParaRPr sz="2000">
              <a:latin typeface="Lato Black"/>
              <a:ea typeface="Lato Black"/>
              <a:cs typeface="Lato Black"/>
              <a:sym typeface="Lato Black"/>
            </a:endParaRPr>
          </a:p>
          <a:p>
            <a:pPr indent="0" lvl="0" marL="0" rtl="0" algn="ctr">
              <a:spcBef>
                <a:spcPts val="1200"/>
              </a:spcBef>
              <a:spcAft>
                <a:spcPts val="1200"/>
              </a:spcAft>
              <a:buNone/>
            </a:pPr>
            <a:r>
              <a:rPr lang="en" sz="2000">
                <a:latin typeface="Lato Black"/>
                <a:ea typeface="Lato Black"/>
                <a:cs typeface="Lato Black"/>
                <a:sym typeface="Lato Black"/>
              </a:rPr>
              <a:t>Ayush Kasara</a:t>
            </a:r>
            <a:endParaRPr sz="2000">
              <a:latin typeface="Lato Black"/>
              <a:ea typeface="Lato Black"/>
              <a:cs typeface="Lato Black"/>
              <a:sym typeface="Lato Blac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