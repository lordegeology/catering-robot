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
      <p:font typeface="Lato Black"/>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lack-bold.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lack-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6de1706c4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6de1706c4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6de1706c45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6de1706c45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6de1706c45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6de1706c45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6de1706c4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6de1706c4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6f8de7cec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6f8de7cec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6de1706c4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6de1706c4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6de1706c45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6de1706c45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6de1706c4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6de1706c4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6f8de7cec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6f8de7cec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6de1706c45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6de1706c4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6de1706c45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6de1706c4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6de1706c45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6de1706c45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6de1706c45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6de1706c45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6de1706c45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6de1706c45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pudurobotics.com/product/detail/bellabo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bblai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drive.google.com/file/d/1cm0h6Jipzs2MkCrFNjRxSF-saSLc-H53/view" TargetMode="Externa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drive.google.com/file/d/1CCuAHlXIn1iqv9KUvOKm8X_2GpMiEM9C/view" TargetMode="Externa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www.researchgate.net/publication/251945230_Catering_Service_Robot" TargetMode="External"/><Relationship Id="rId4" Type="http://schemas.openxmlformats.org/officeDocument/2006/relationships/hyperlink" Target="https://www.sciencedirect.com/science/article/pii/S1877050918309967" TargetMode="External"/><Relationship Id="rId5" Type="http://schemas.openxmlformats.org/officeDocument/2006/relationships/hyperlink" Target="https://www.pudurobotics.com/product/detail/bellabot" TargetMode="External"/><Relationship Id="rId6" Type="http://schemas.openxmlformats.org/officeDocument/2006/relationships/hyperlink" Target="http://idm-lab.org/bib/abstracts/papers/aaai02b.pdf" TargetMode="External"/><Relationship Id="rId7" Type="http://schemas.openxmlformats.org/officeDocument/2006/relationships/hyperlink" Target="https://github.com/AtsushiSakai/PythonRobotics/blob/master/PathPlanning/DStarLite/d_star_lite.py" TargetMode="External"/><Relationship Id="rId8" Type="http://schemas.openxmlformats.org/officeDocument/2006/relationships/hyperlink" Target="https://github.com/bblais/RobotSim37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Catering Robot</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Course Project: BITS F327 Artificial Intelligence for Robotics</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Acknowledgements</a:t>
            </a:r>
            <a:endParaRPr/>
          </a:p>
        </p:txBody>
      </p:sp>
      <p:sp>
        <p:nvSpPr>
          <p:cNvPr id="93" name="Google Shape;93;p14"/>
          <p:cNvSpPr txBox="1"/>
          <p:nvPr>
            <p:ph idx="1" type="body"/>
          </p:nvPr>
        </p:nvSpPr>
        <p:spPr>
          <a:xfrm>
            <a:off x="729450" y="1493925"/>
            <a:ext cx="7688700" cy="284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We would like to thank Dr. Abhishek Sarkar for his valuable guidance and support. We would also like to thank Mr. Suryanarayana for his support and </a:t>
            </a:r>
            <a:r>
              <a:rPr lang="en" sz="1500"/>
              <a:t>assistance</a:t>
            </a:r>
            <a:r>
              <a:rPr lang="en" sz="1500"/>
              <a:t>.</a:t>
            </a:r>
            <a:endParaRPr sz="1500"/>
          </a:p>
          <a:p>
            <a:pPr indent="0" lvl="0" marL="0" rtl="0" algn="l">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Introduction</a:t>
            </a:r>
            <a:endParaRPr/>
          </a:p>
        </p:txBody>
      </p:sp>
      <p:sp>
        <p:nvSpPr>
          <p:cNvPr id="99" name="Google Shape;99;p15"/>
          <p:cNvSpPr txBox="1"/>
          <p:nvPr>
            <p:ph idx="1" type="body"/>
          </p:nvPr>
        </p:nvSpPr>
        <p:spPr>
          <a:xfrm>
            <a:off x="727650" y="1479775"/>
            <a:ext cx="7688700" cy="35310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As human living standards keep on improving continuously, robots gradually entered our daily lives to make things easier and interesting. Out of these service robots, catering robots are one of the most interesting and useful robots.</a:t>
            </a:r>
            <a:endParaRPr/>
          </a:p>
          <a:p>
            <a:pPr indent="-311150" lvl="0" marL="457200" rtl="0" algn="l">
              <a:spcBef>
                <a:spcPts val="0"/>
              </a:spcBef>
              <a:spcAft>
                <a:spcPts val="0"/>
              </a:spcAft>
              <a:buSzPts val="1300"/>
              <a:buChar char="❏"/>
            </a:pPr>
            <a:r>
              <a:rPr lang="en"/>
              <a:t>In 1983, The Two Panda Deli in Pasadena, California became the first restaurant to employ two catering robots, Tanbo R-1 and Tanbo R-2 as their staff, in order to bring chinese food to their customers and entertain them with friendly jokes and music.</a:t>
            </a:r>
            <a:endParaRPr/>
          </a:p>
          <a:p>
            <a:pPr indent="-311150" lvl="0" marL="457200" rtl="0" algn="l">
              <a:spcBef>
                <a:spcPts val="0"/>
              </a:spcBef>
              <a:spcAft>
                <a:spcPts val="0"/>
              </a:spcAft>
              <a:buSzPts val="1300"/>
              <a:buChar char="❏"/>
            </a:pPr>
            <a:r>
              <a:rPr lang="en"/>
              <a:t>Catering service robots working in restaurants are usually integrated with multi sensor data fusions, autonomous mobile and multimodal human computer interaction techniques.</a:t>
            </a:r>
            <a:endParaRPr/>
          </a:p>
          <a:p>
            <a:pPr indent="-311150" lvl="0" marL="457200" rtl="0" algn="l">
              <a:spcBef>
                <a:spcPts val="0"/>
              </a:spcBef>
              <a:spcAft>
                <a:spcPts val="0"/>
              </a:spcAft>
              <a:buSzPts val="1300"/>
              <a:buChar char="❏"/>
            </a:pPr>
            <a:r>
              <a:rPr lang="en"/>
              <a:t>They can partially or completely take the role of restaurant staff as they can be used by customers for ordering food and provide </a:t>
            </a:r>
            <a:r>
              <a:rPr lang="en"/>
              <a:t>delivering</a:t>
            </a:r>
            <a:r>
              <a:rPr lang="en"/>
              <a:t> services in the restaurant along with friendly interactions and self mobility.</a:t>
            </a:r>
            <a:endParaRPr/>
          </a:p>
          <a:p>
            <a:pPr indent="-311150" lvl="0" marL="457200" rtl="0" algn="l">
              <a:spcBef>
                <a:spcPts val="0"/>
              </a:spcBef>
              <a:spcAft>
                <a:spcPts val="0"/>
              </a:spcAft>
              <a:buSzPts val="1300"/>
              <a:buChar char="❏"/>
            </a:pPr>
            <a:r>
              <a:rPr b="1" lang="en"/>
              <a:t>Hence they are very beneficial, as they come with good marketing effectiveness and potential profitable advantages. </a:t>
            </a:r>
            <a:endParaRPr b="1"/>
          </a:p>
          <a:p>
            <a:pPr indent="-311150" lvl="0" marL="457200" rtl="0" algn="l">
              <a:spcBef>
                <a:spcPts val="0"/>
              </a:spcBef>
              <a:spcAft>
                <a:spcPts val="0"/>
              </a:spcAft>
              <a:buSzPts val="1300"/>
              <a:buChar char="❏"/>
            </a:pPr>
            <a:r>
              <a:rPr lang="en"/>
              <a:t>Commercial waiter robots can go up to $10,000. For example, </a:t>
            </a:r>
            <a:r>
              <a:rPr lang="en" u="sng">
                <a:solidFill>
                  <a:schemeClr val="hlink"/>
                </a:solidFill>
                <a:hlinkClick r:id="rId3"/>
              </a:rPr>
              <a:t>BellaBot</a:t>
            </a:r>
            <a:r>
              <a:rPr lang="en"/>
              <a:t>.</a:t>
            </a:r>
            <a:endParaRPr/>
          </a:p>
          <a:p>
            <a:pPr indent="-311150" lvl="0" marL="457200" rtl="0" algn="l">
              <a:spcBef>
                <a:spcPts val="0"/>
              </a:spcBef>
              <a:spcAft>
                <a:spcPts val="0"/>
              </a:spcAft>
              <a:buSzPts val="1300"/>
              <a:buChar char="❏"/>
            </a:pPr>
            <a:r>
              <a:rPr lang="en"/>
              <a:t>Therefore, in our project, </a:t>
            </a:r>
            <a:r>
              <a:rPr b="1" lang="en"/>
              <a:t>introducing </a:t>
            </a:r>
            <a:r>
              <a:rPr b="1" lang="en"/>
              <a:t>uncertainty</a:t>
            </a:r>
            <a:r>
              <a:rPr b="1" lang="en"/>
              <a:t> into the environment and path planning along with course correction can be useful if deployed.</a:t>
            </a:r>
            <a:endParaRPr b="1"/>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Theory and Algorithms used</a:t>
            </a:r>
            <a:endParaRPr/>
          </a:p>
        </p:txBody>
      </p:sp>
      <p:sp>
        <p:nvSpPr>
          <p:cNvPr id="105" name="Google Shape;105;p16"/>
          <p:cNvSpPr txBox="1"/>
          <p:nvPr>
            <p:ph idx="1" type="body"/>
          </p:nvPr>
        </p:nvSpPr>
        <p:spPr>
          <a:xfrm>
            <a:off x="729450" y="1493925"/>
            <a:ext cx="7688700" cy="3473700"/>
          </a:xfrm>
          <a:prstGeom prst="rect">
            <a:avLst/>
          </a:prstGeom>
        </p:spPr>
        <p:txBody>
          <a:bodyPr anchorCtr="0" anchor="t" bIns="91425" lIns="91425" spcFirstLastPara="1" rIns="91425" wrap="square" tIns="91425">
            <a:normAutofit lnSpcReduction="20000"/>
          </a:bodyPr>
          <a:lstStyle/>
          <a:p>
            <a:pPr indent="-323850" lvl="0" marL="457200" rtl="0" algn="l">
              <a:lnSpc>
                <a:spcPct val="115000"/>
              </a:lnSpc>
              <a:spcBef>
                <a:spcPts val="0"/>
              </a:spcBef>
              <a:spcAft>
                <a:spcPts val="0"/>
              </a:spcAft>
              <a:buSzPts val="1500"/>
              <a:buChar char="❏"/>
            </a:pPr>
            <a:r>
              <a:rPr lang="en" sz="1500"/>
              <a:t>We use a pre-built robot kit with the necessary tools and functions as well as the simulation environment tools by Brian Blais from Bryant University (</a:t>
            </a:r>
            <a:r>
              <a:rPr lang="en" sz="1500" u="sng">
                <a:solidFill>
                  <a:schemeClr val="hlink"/>
                </a:solidFill>
                <a:hlinkClick r:id="rId3"/>
              </a:rPr>
              <a:t>https://github.com/bblais</a:t>
            </a:r>
            <a:r>
              <a:rPr lang="en" sz="1500"/>
              <a:t>) for our project. </a:t>
            </a:r>
            <a:endParaRPr sz="1500"/>
          </a:p>
          <a:p>
            <a:pPr indent="-323850" lvl="0" marL="457200" rtl="0" algn="l">
              <a:lnSpc>
                <a:spcPct val="115000"/>
              </a:lnSpc>
              <a:spcBef>
                <a:spcPts val="0"/>
              </a:spcBef>
              <a:spcAft>
                <a:spcPts val="0"/>
              </a:spcAft>
              <a:buSzPts val="1500"/>
              <a:buChar char="❏"/>
            </a:pPr>
            <a:r>
              <a:rPr lang="en" sz="1500"/>
              <a:t>It allows the user to build basic 2D robots of various shapes. The robot has a list of functions that allows us to build various new functions for motion and path planning. </a:t>
            </a:r>
            <a:endParaRPr sz="1500"/>
          </a:p>
          <a:p>
            <a:pPr indent="-323850" lvl="0" marL="457200" rtl="0" algn="l">
              <a:lnSpc>
                <a:spcPct val="115000"/>
              </a:lnSpc>
              <a:spcBef>
                <a:spcPts val="0"/>
              </a:spcBef>
              <a:spcAft>
                <a:spcPts val="0"/>
              </a:spcAft>
              <a:buSzPts val="1500"/>
              <a:buChar char="❏"/>
            </a:pPr>
            <a:r>
              <a:rPr lang="en" sz="1500"/>
              <a:t>It involves a simulation environment built with</a:t>
            </a:r>
            <a:r>
              <a:rPr b="1" lang="en" sz="1500"/>
              <a:t> box2d</a:t>
            </a:r>
            <a:r>
              <a:rPr lang="en" sz="1500"/>
              <a:t> and </a:t>
            </a:r>
            <a:r>
              <a:rPr lang="en" sz="1500"/>
              <a:t>visualization</a:t>
            </a:r>
            <a:r>
              <a:rPr lang="en" sz="1500"/>
              <a:t> with </a:t>
            </a:r>
            <a:r>
              <a:rPr b="1" lang="en" sz="1500"/>
              <a:t>matplotlib</a:t>
            </a:r>
            <a:r>
              <a:rPr lang="en" sz="1500"/>
              <a:t>.  </a:t>
            </a:r>
            <a:endParaRPr sz="1500"/>
          </a:p>
          <a:p>
            <a:pPr indent="-323850" lvl="0" marL="457200" rtl="0" algn="l">
              <a:lnSpc>
                <a:spcPct val="115000"/>
              </a:lnSpc>
              <a:spcBef>
                <a:spcPts val="0"/>
              </a:spcBef>
              <a:spcAft>
                <a:spcPts val="0"/>
              </a:spcAft>
              <a:buSzPts val="1500"/>
              <a:buChar char="❏"/>
            </a:pPr>
            <a:r>
              <a:rPr b="1" lang="en" sz="1500">
                <a:highlight>
                  <a:schemeClr val="lt1"/>
                </a:highlight>
              </a:rPr>
              <a:t>pybox2d</a:t>
            </a:r>
            <a:r>
              <a:rPr lang="en" sz="1500">
                <a:highlight>
                  <a:schemeClr val="lt1"/>
                </a:highlight>
              </a:rPr>
              <a:t> is a 2D physics library for your games and simple simulations. It's based on the Box2D library, written in C++. It supports several shape types (circle, polygon, thin line segments), and quite a few joint types (revolute, prismatic, wheel, etc.). </a:t>
            </a:r>
            <a:endParaRPr sz="1500">
              <a:highlight>
                <a:schemeClr val="lt1"/>
              </a:highlight>
            </a:endParaRPr>
          </a:p>
          <a:p>
            <a:pPr indent="-323850" lvl="0" marL="457200" rtl="0" algn="l">
              <a:lnSpc>
                <a:spcPct val="115000"/>
              </a:lnSpc>
              <a:spcBef>
                <a:spcPts val="0"/>
              </a:spcBef>
              <a:spcAft>
                <a:spcPts val="0"/>
              </a:spcAft>
              <a:buSzPts val="1500"/>
              <a:buChar char="❏"/>
            </a:pPr>
            <a:r>
              <a:rPr b="1" lang="en" sz="1500">
                <a:highlight>
                  <a:schemeClr val="lt1"/>
                </a:highlight>
              </a:rPr>
              <a:t>Matplotlib </a:t>
            </a:r>
            <a:r>
              <a:rPr lang="en" sz="1500">
                <a:highlight>
                  <a:schemeClr val="lt1"/>
                </a:highlight>
              </a:rPr>
              <a:t>is a comprehensive plotting library for creating static, animated, and interactive visualizations in Python.</a:t>
            </a:r>
            <a:endParaRPr sz="1500">
              <a:highlight>
                <a:schemeClr val="lt1"/>
              </a:highlight>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Theory and Algorithms used (Cont’d…)</a:t>
            </a:r>
            <a:endParaRPr/>
          </a:p>
          <a:p>
            <a:pPr indent="0" lvl="0" marL="0" rtl="0" algn="l">
              <a:spcBef>
                <a:spcPts val="0"/>
              </a:spcBef>
              <a:spcAft>
                <a:spcPts val="0"/>
              </a:spcAft>
              <a:buNone/>
            </a:pPr>
            <a:r>
              <a:t/>
            </a:r>
            <a:endParaRPr/>
          </a:p>
        </p:txBody>
      </p:sp>
      <p:sp>
        <p:nvSpPr>
          <p:cNvPr id="111" name="Google Shape;111;p17"/>
          <p:cNvSpPr txBox="1"/>
          <p:nvPr>
            <p:ph idx="1" type="body"/>
          </p:nvPr>
        </p:nvSpPr>
        <p:spPr>
          <a:xfrm>
            <a:off x="0" y="1493925"/>
            <a:ext cx="9186300" cy="3307200"/>
          </a:xfrm>
          <a:prstGeom prst="rect">
            <a:avLst/>
          </a:prstGeom>
        </p:spPr>
        <p:txBody>
          <a:bodyPr anchorCtr="0" anchor="t" bIns="91425" lIns="91425" spcFirstLastPara="1" rIns="91425" wrap="square" tIns="91425">
            <a:normAutofit fontScale="62500"/>
          </a:bodyPr>
          <a:lstStyle/>
          <a:p>
            <a:pPr indent="-315912" lvl="0" marL="457200" rtl="0" algn="l">
              <a:lnSpc>
                <a:spcPct val="115000"/>
              </a:lnSpc>
              <a:spcBef>
                <a:spcPts val="0"/>
              </a:spcBef>
              <a:spcAft>
                <a:spcPts val="0"/>
              </a:spcAft>
              <a:buSzPct val="100000"/>
              <a:buChar char="❏"/>
            </a:pPr>
            <a:r>
              <a:rPr lang="en" sz="2200"/>
              <a:t>We then implement path planning using </a:t>
            </a:r>
            <a:r>
              <a:rPr b="1" lang="en" sz="2200"/>
              <a:t>D* Lite</a:t>
            </a:r>
            <a:r>
              <a:rPr lang="en" sz="2200"/>
              <a:t> algorithm. It is useful for our use case as it is a simpler version of D* while also allow for course correction by replanning the path as obstacles are encountered.</a:t>
            </a:r>
            <a:endParaRPr sz="2200"/>
          </a:p>
          <a:p>
            <a:pPr indent="-315912" lvl="0" marL="457200" rtl="0" algn="l">
              <a:lnSpc>
                <a:spcPct val="115000"/>
              </a:lnSpc>
              <a:spcBef>
                <a:spcPts val="0"/>
              </a:spcBef>
              <a:spcAft>
                <a:spcPts val="0"/>
              </a:spcAft>
              <a:buSzPct val="100000"/>
              <a:buChar char="❏"/>
            </a:pPr>
            <a:r>
              <a:rPr lang="en" sz="2200"/>
              <a:t>D* Lite is an incremental heuristic search that repeatedly determines shortest paths between the current node of the robot and the goal node as the edge costs of a graph change while the robot moves towards the goal node. It is based upon the idea as A*.  It adapts to obstacles with minimum cost to reach the goal. </a:t>
            </a:r>
            <a:endParaRPr sz="2200"/>
          </a:p>
          <a:p>
            <a:pPr indent="-315912" lvl="0" marL="457200" rtl="0" algn="l">
              <a:lnSpc>
                <a:spcPct val="115000"/>
              </a:lnSpc>
              <a:spcBef>
                <a:spcPts val="0"/>
              </a:spcBef>
              <a:spcAft>
                <a:spcPts val="0"/>
              </a:spcAft>
              <a:buSzPct val="100000"/>
              <a:buChar char="❏"/>
            </a:pPr>
            <a:r>
              <a:rPr b="1" lang="en" sz="2200"/>
              <a:t>Autonomous robots</a:t>
            </a:r>
            <a:r>
              <a:rPr lang="en" sz="2200"/>
              <a:t> are the ones that act without recourse to human control and  show some degree of self sufficiency. </a:t>
            </a:r>
            <a:endParaRPr sz="2200"/>
          </a:p>
          <a:p>
            <a:pPr indent="-315912" lvl="0" marL="457200" rtl="0" algn="l">
              <a:lnSpc>
                <a:spcPct val="115000"/>
              </a:lnSpc>
              <a:spcBef>
                <a:spcPts val="0"/>
              </a:spcBef>
              <a:spcAft>
                <a:spcPts val="0"/>
              </a:spcAft>
              <a:buSzPct val="100000"/>
              <a:buChar char="❏"/>
            </a:pPr>
            <a:r>
              <a:rPr lang="en" sz="2200"/>
              <a:t>The first autonomous robot environment known as Elmer and Elsie were first constructed in the late 1940s by Grey Walter.</a:t>
            </a:r>
            <a:endParaRPr sz="2200"/>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Theory and Algorithms used (Cont’d…)</a:t>
            </a:r>
            <a:endParaRPr/>
          </a:p>
          <a:p>
            <a:pPr indent="0" lvl="0" marL="0" rtl="0" algn="l">
              <a:spcBef>
                <a:spcPts val="0"/>
              </a:spcBef>
              <a:spcAft>
                <a:spcPts val="0"/>
              </a:spcAft>
              <a:buNone/>
            </a:pPr>
            <a:r>
              <a:t/>
            </a:r>
            <a:endParaRPr/>
          </a:p>
        </p:txBody>
      </p:sp>
      <p:sp>
        <p:nvSpPr>
          <p:cNvPr id="117" name="Google Shape;117;p18"/>
          <p:cNvSpPr txBox="1"/>
          <p:nvPr>
            <p:ph idx="1" type="body"/>
          </p:nvPr>
        </p:nvSpPr>
        <p:spPr>
          <a:xfrm>
            <a:off x="0" y="1326700"/>
            <a:ext cx="9144000" cy="3520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The </a:t>
            </a:r>
            <a:r>
              <a:rPr b="1" lang="en" sz="1500"/>
              <a:t>Finite State Machine</a:t>
            </a:r>
            <a:r>
              <a:rPr lang="en" sz="1500"/>
              <a:t> is an abstract mathematical model of a sequential logic function and can be implemented in real life </a:t>
            </a:r>
            <a:r>
              <a:rPr lang="en" sz="1500"/>
              <a:t>circuits</a:t>
            </a:r>
            <a:r>
              <a:rPr lang="en" sz="1500"/>
              <a:t> with the help of Flip Flops.  It has finite inputs, outputs and number of states. It can change from one state to another as response to some inputs.</a:t>
            </a:r>
            <a:endParaRPr sz="1500"/>
          </a:p>
          <a:p>
            <a:pPr indent="0" lvl="0" marL="457200" rtl="0" algn="l">
              <a:spcBef>
                <a:spcPts val="1200"/>
              </a:spcBef>
              <a:spcAft>
                <a:spcPts val="0"/>
              </a:spcAft>
              <a:buNone/>
            </a:pPr>
            <a:r>
              <a:t/>
            </a:r>
            <a:endParaRPr sz="1500"/>
          </a:p>
          <a:p>
            <a:pPr indent="-323850" lvl="0" marL="457200" rtl="0" algn="l">
              <a:spcBef>
                <a:spcPts val="1200"/>
              </a:spcBef>
              <a:spcAft>
                <a:spcPts val="0"/>
              </a:spcAft>
              <a:buSzPts val="1500"/>
              <a:buChar char="❏"/>
            </a:pPr>
            <a:r>
              <a:rPr lang="en" sz="1500"/>
              <a:t>The </a:t>
            </a:r>
            <a:r>
              <a:rPr b="1" lang="en" sz="1500"/>
              <a:t>robotic controller </a:t>
            </a:r>
            <a:r>
              <a:rPr lang="en" sz="1500"/>
              <a:t>acts as the brain of a robot as</a:t>
            </a:r>
            <a:r>
              <a:rPr lang="en" sz="1500"/>
              <a:t> it usually interrupts coding that serves as the program for a given robotic application. It deciphers the code into instructions for the articulated robot to use in order to operate and carry out the steps of application.</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Details </a:t>
            </a:r>
            <a:endParaRPr/>
          </a:p>
          <a:p>
            <a:pPr indent="0" lvl="0" marL="0" rtl="0" algn="l">
              <a:spcBef>
                <a:spcPts val="0"/>
              </a:spcBef>
              <a:spcAft>
                <a:spcPts val="0"/>
              </a:spcAft>
              <a:buNone/>
            </a:pPr>
            <a:r>
              <a:t/>
            </a:r>
            <a:endParaRPr/>
          </a:p>
        </p:txBody>
      </p:sp>
      <p:sp>
        <p:nvSpPr>
          <p:cNvPr id="123" name="Google Shape;123;p19"/>
          <p:cNvSpPr txBox="1"/>
          <p:nvPr>
            <p:ph idx="1" type="body"/>
          </p:nvPr>
        </p:nvSpPr>
        <p:spPr>
          <a:xfrm>
            <a:off x="157275" y="1493925"/>
            <a:ext cx="3311700" cy="28461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In this environment, 9 tables are used as shown: each having 10*10 unit^2 area</a:t>
            </a:r>
            <a:endParaRPr sz="1400"/>
          </a:p>
          <a:p>
            <a:pPr indent="-317500" lvl="0" marL="457200" rtl="0" algn="l">
              <a:spcBef>
                <a:spcPts val="0"/>
              </a:spcBef>
              <a:spcAft>
                <a:spcPts val="0"/>
              </a:spcAft>
              <a:buSzPts val="1400"/>
              <a:buChar char="❏"/>
            </a:pPr>
            <a:r>
              <a:rPr lang="en" sz="1400"/>
              <a:t>Overall square boundary :80*80 unit^2</a:t>
            </a:r>
            <a:endParaRPr sz="1400"/>
          </a:p>
          <a:p>
            <a:pPr indent="-317500" lvl="0" marL="457200" rtl="0" algn="l">
              <a:spcBef>
                <a:spcPts val="0"/>
              </a:spcBef>
              <a:spcAft>
                <a:spcPts val="0"/>
              </a:spcAft>
              <a:buSzPts val="1400"/>
              <a:buChar char="❏"/>
            </a:pPr>
            <a:r>
              <a:rPr lang="en" sz="1400"/>
              <a:t>Cost of motion from one node to next (i.e one point to another) is either 1 or sqrt(2).</a:t>
            </a:r>
            <a:endParaRPr sz="1400"/>
          </a:p>
          <a:p>
            <a:pPr indent="-317500" lvl="0" marL="457200" rtl="0" algn="l">
              <a:spcBef>
                <a:spcPts val="0"/>
              </a:spcBef>
              <a:spcAft>
                <a:spcPts val="0"/>
              </a:spcAft>
              <a:buSzPts val="1400"/>
              <a:buChar char="❏"/>
            </a:pPr>
            <a:r>
              <a:rPr lang="en" sz="1400"/>
              <a:t>Coordinates can only be integers.</a:t>
            </a:r>
            <a:endParaRPr sz="1400"/>
          </a:p>
        </p:txBody>
      </p:sp>
      <p:pic>
        <p:nvPicPr>
          <p:cNvPr id="124" name="Google Shape;124;p19"/>
          <p:cNvPicPr preferRelativeResize="0"/>
          <p:nvPr/>
        </p:nvPicPr>
        <p:blipFill>
          <a:blip r:embed="rId3">
            <a:alphaModFix/>
          </a:blip>
          <a:stretch>
            <a:fillRect/>
          </a:stretch>
        </p:blipFill>
        <p:spPr>
          <a:xfrm>
            <a:off x="3532975" y="1493925"/>
            <a:ext cx="5611025" cy="3356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Simulation Details </a:t>
            </a:r>
            <a:r>
              <a:rPr lang="en"/>
              <a:t>(Cont’d…)</a:t>
            </a:r>
            <a:endParaRPr/>
          </a:p>
        </p:txBody>
      </p:sp>
      <p:sp>
        <p:nvSpPr>
          <p:cNvPr id="130" name="Google Shape;130;p20"/>
          <p:cNvSpPr txBox="1"/>
          <p:nvPr>
            <p:ph idx="1" type="body"/>
          </p:nvPr>
        </p:nvSpPr>
        <p:spPr>
          <a:xfrm>
            <a:off x="333025" y="1313625"/>
            <a:ext cx="4375800" cy="3699600"/>
          </a:xfrm>
          <a:prstGeom prst="rect">
            <a:avLst/>
          </a:prstGeom>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400"/>
              <a:t>The environment is build with box2d and matplotlib. It’s dimensions are 100*100 unit^2</a:t>
            </a:r>
            <a:endParaRPr sz="1400"/>
          </a:p>
          <a:p>
            <a:pPr indent="-317500" lvl="0" marL="457200" rtl="0" algn="l">
              <a:lnSpc>
                <a:spcPct val="115000"/>
              </a:lnSpc>
              <a:spcBef>
                <a:spcPts val="0"/>
              </a:spcBef>
              <a:spcAft>
                <a:spcPts val="0"/>
              </a:spcAft>
              <a:buSzPts val="1400"/>
              <a:buChar char="❏"/>
            </a:pPr>
            <a:r>
              <a:rPr lang="en" sz="1400"/>
              <a:t>Robot dimensions:</a:t>
            </a:r>
            <a:endParaRPr sz="1400"/>
          </a:p>
          <a:p>
            <a:pPr indent="-317500" lvl="1" marL="914400" rtl="0" algn="l">
              <a:lnSpc>
                <a:spcPct val="115000"/>
              </a:lnSpc>
              <a:spcBef>
                <a:spcPts val="0"/>
              </a:spcBef>
              <a:spcAft>
                <a:spcPts val="0"/>
              </a:spcAft>
              <a:buSzPts val="1400"/>
              <a:buChar char="❏"/>
            </a:pPr>
            <a:r>
              <a:rPr lang="en" sz="1400"/>
              <a:t>Both boxes =&gt; 1*1 unit^2</a:t>
            </a:r>
            <a:endParaRPr sz="1400"/>
          </a:p>
          <a:p>
            <a:pPr indent="-317500" lvl="1" marL="914400" rtl="0" algn="l">
              <a:lnSpc>
                <a:spcPct val="115000"/>
              </a:lnSpc>
              <a:spcBef>
                <a:spcPts val="0"/>
              </a:spcBef>
              <a:spcAft>
                <a:spcPts val="0"/>
              </a:spcAft>
              <a:buSzPts val="1400"/>
              <a:buChar char="❏"/>
            </a:pPr>
            <a:r>
              <a:rPr lang="en" sz="1400"/>
              <a:t>Disk =&gt; pi*(0.5)^2 unit^2</a:t>
            </a:r>
            <a:endParaRPr sz="1400"/>
          </a:p>
          <a:p>
            <a:pPr indent="-317500" lvl="0" marL="457200" rtl="0" algn="l">
              <a:lnSpc>
                <a:spcPct val="115000"/>
              </a:lnSpc>
              <a:spcBef>
                <a:spcPts val="0"/>
              </a:spcBef>
              <a:spcAft>
                <a:spcPts val="0"/>
              </a:spcAft>
              <a:buSzPts val="1400"/>
              <a:buChar char="❏"/>
            </a:pPr>
            <a:r>
              <a:rPr lang="en" sz="1400"/>
              <a:t>Table dimensions:</a:t>
            </a:r>
            <a:endParaRPr sz="1400"/>
          </a:p>
          <a:p>
            <a:pPr indent="-317500" lvl="1" marL="914400" rtl="0" algn="l">
              <a:lnSpc>
                <a:spcPct val="115000"/>
              </a:lnSpc>
              <a:spcBef>
                <a:spcPts val="0"/>
              </a:spcBef>
              <a:spcAft>
                <a:spcPts val="0"/>
              </a:spcAft>
              <a:buSzPts val="1400"/>
              <a:buChar char="❏"/>
            </a:pPr>
            <a:r>
              <a:rPr lang="en" sz="1400"/>
              <a:t>10*10 unit^2</a:t>
            </a:r>
            <a:endParaRPr sz="1400"/>
          </a:p>
          <a:p>
            <a:pPr indent="-317500" lvl="0" marL="457200" rtl="0" algn="l">
              <a:lnSpc>
                <a:spcPct val="115000"/>
              </a:lnSpc>
              <a:spcBef>
                <a:spcPts val="0"/>
              </a:spcBef>
              <a:spcAft>
                <a:spcPts val="0"/>
              </a:spcAft>
              <a:buSzPts val="1400"/>
              <a:buChar char="❏"/>
            </a:pPr>
            <a:r>
              <a:rPr lang="en" sz="1400"/>
              <a:t>Obstacle dimensions:</a:t>
            </a:r>
            <a:endParaRPr sz="1400"/>
          </a:p>
          <a:p>
            <a:pPr indent="-317500" lvl="1" marL="914400" rtl="0" algn="l">
              <a:lnSpc>
                <a:spcPct val="115000"/>
              </a:lnSpc>
              <a:spcBef>
                <a:spcPts val="0"/>
              </a:spcBef>
              <a:spcAft>
                <a:spcPts val="0"/>
              </a:spcAft>
              <a:buSzPts val="1400"/>
              <a:buChar char="❏"/>
            </a:pPr>
            <a:r>
              <a:rPr lang="en" sz="1400"/>
              <a:t>60*0.2 unit^2</a:t>
            </a:r>
            <a:endParaRPr sz="1400"/>
          </a:p>
          <a:p>
            <a:pPr indent="-317500" lvl="0" marL="457200" rtl="0" algn="l">
              <a:lnSpc>
                <a:spcPct val="115000"/>
              </a:lnSpc>
              <a:spcBef>
                <a:spcPts val="0"/>
              </a:spcBef>
              <a:spcAft>
                <a:spcPts val="0"/>
              </a:spcAft>
              <a:buSzPts val="1400"/>
              <a:buChar char="❏"/>
            </a:pPr>
            <a:r>
              <a:rPr lang="en" sz="1400"/>
              <a:t>Currently, the obstacles are static.</a:t>
            </a:r>
            <a:endParaRPr sz="1400"/>
          </a:p>
          <a:p>
            <a:pPr indent="-317500" lvl="0" marL="457200" rtl="0" algn="l">
              <a:lnSpc>
                <a:spcPct val="115000"/>
              </a:lnSpc>
              <a:spcBef>
                <a:spcPts val="0"/>
              </a:spcBef>
              <a:spcAft>
                <a:spcPts val="0"/>
              </a:spcAft>
              <a:buSzPts val="1400"/>
              <a:buChar char="❏"/>
            </a:pPr>
            <a:r>
              <a:rPr lang="en" sz="1400"/>
              <a:t>Run time is 200; detail display is 5.</a:t>
            </a:r>
            <a:endParaRPr sz="1400"/>
          </a:p>
          <a:p>
            <a:pPr indent="0" lvl="0" marL="0" rtl="0" algn="l">
              <a:lnSpc>
                <a:spcPct val="115000"/>
              </a:lnSpc>
              <a:spcBef>
                <a:spcPts val="1200"/>
              </a:spcBef>
              <a:spcAft>
                <a:spcPts val="1200"/>
              </a:spcAft>
              <a:buNone/>
            </a:pPr>
            <a:r>
              <a:t/>
            </a:r>
            <a:endParaRPr/>
          </a:p>
        </p:txBody>
      </p:sp>
      <p:pic>
        <p:nvPicPr>
          <p:cNvPr id="131" name="Google Shape;131;p20"/>
          <p:cNvPicPr preferRelativeResize="0"/>
          <p:nvPr/>
        </p:nvPicPr>
        <p:blipFill>
          <a:blip r:embed="rId3">
            <a:alphaModFix/>
          </a:blip>
          <a:stretch>
            <a:fillRect/>
          </a:stretch>
        </p:blipFill>
        <p:spPr>
          <a:xfrm>
            <a:off x="4750175" y="1121925"/>
            <a:ext cx="3982675" cy="38913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Preliminary Results</a:t>
            </a:r>
            <a:endParaRPr/>
          </a:p>
        </p:txBody>
      </p:sp>
      <p:sp>
        <p:nvSpPr>
          <p:cNvPr id="137" name="Google Shape;137;p21"/>
          <p:cNvSpPr txBox="1"/>
          <p:nvPr>
            <p:ph idx="1" type="body"/>
          </p:nvPr>
        </p:nvSpPr>
        <p:spPr>
          <a:xfrm>
            <a:off x="181825" y="1410226"/>
            <a:ext cx="3546300" cy="35067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SzPts val="1400"/>
              <a:buChar char="❏"/>
            </a:pPr>
            <a:r>
              <a:rPr lang="en" sz="1400"/>
              <a:t>There are 9 tables and 4 seats each; 36 possible goal nodes and they are randomly selected.</a:t>
            </a:r>
            <a:endParaRPr sz="1400"/>
          </a:p>
          <a:p>
            <a:pPr indent="-317500" lvl="0" marL="457200" rtl="0" algn="l">
              <a:spcBef>
                <a:spcPts val="0"/>
              </a:spcBef>
              <a:spcAft>
                <a:spcPts val="0"/>
              </a:spcAft>
              <a:buSzPts val="1400"/>
              <a:buChar char="❏"/>
            </a:pPr>
            <a:r>
              <a:rPr lang="en" sz="1400"/>
              <a:t>A</a:t>
            </a:r>
            <a:r>
              <a:rPr lang="en" sz="1400"/>
              <a:t>fter initial path is computed, t</a:t>
            </a:r>
            <a:r>
              <a:rPr lang="en" sz="1400"/>
              <a:t>wo random obstacles are introduced after some initial movement; one along x axis and one along y axis.</a:t>
            </a:r>
            <a:endParaRPr sz="1400"/>
          </a:p>
          <a:p>
            <a:pPr indent="-317500" lvl="0" marL="457200" rtl="0" algn="l">
              <a:spcBef>
                <a:spcPts val="0"/>
              </a:spcBef>
              <a:spcAft>
                <a:spcPts val="0"/>
              </a:spcAft>
              <a:buSzPts val="1400"/>
              <a:buChar char="❏"/>
            </a:pPr>
            <a:r>
              <a:rPr lang="en" sz="1400"/>
              <a:t>Obstacles are randomly introduces from a set of 6 possible obstacles we have defined.</a:t>
            </a:r>
            <a:endParaRPr sz="1400"/>
          </a:p>
          <a:p>
            <a:pPr indent="-317500" lvl="0" marL="457200" rtl="0" algn="l">
              <a:spcBef>
                <a:spcPts val="0"/>
              </a:spcBef>
              <a:spcAft>
                <a:spcPts val="0"/>
              </a:spcAft>
              <a:buSzPts val="1400"/>
              <a:buChar char="❏"/>
            </a:pPr>
            <a:r>
              <a:rPr lang="en" sz="1400"/>
              <a:t>The path is then recomputed.</a:t>
            </a:r>
            <a:endParaRPr sz="1400"/>
          </a:p>
          <a:p>
            <a:pPr indent="-317500" lvl="0" marL="457200" rtl="0" algn="l">
              <a:spcBef>
                <a:spcPts val="0"/>
              </a:spcBef>
              <a:spcAft>
                <a:spcPts val="0"/>
              </a:spcAft>
              <a:buSzPts val="1400"/>
              <a:buChar char="❏"/>
            </a:pPr>
            <a:r>
              <a:rPr lang="en" sz="1400"/>
              <a:t>Final path is obtained.</a:t>
            </a:r>
            <a:endParaRPr sz="1400"/>
          </a:p>
        </p:txBody>
      </p:sp>
      <p:pic>
        <p:nvPicPr>
          <p:cNvPr id="138" name="Google Shape;138;p21" title="cat_rob.mp4">
            <a:hlinkClick r:id="rId3"/>
          </p:cNvPr>
          <p:cNvPicPr preferRelativeResize="0"/>
          <p:nvPr/>
        </p:nvPicPr>
        <p:blipFill>
          <a:blip r:embed="rId4">
            <a:alphaModFix/>
          </a:blip>
          <a:stretch>
            <a:fillRect/>
          </a:stretch>
        </p:blipFill>
        <p:spPr>
          <a:xfrm>
            <a:off x="3940325" y="1172050"/>
            <a:ext cx="4993124" cy="3744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Preliminary Results (Cont’d…)</a:t>
            </a:r>
            <a:endParaRPr/>
          </a:p>
        </p:txBody>
      </p:sp>
      <p:sp>
        <p:nvSpPr>
          <p:cNvPr id="144" name="Google Shape;144;p22"/>
          <p:cNvSpPr txBox="1"/>
          <p:nvPr>
            <p:ph idx="1" type="body"/>
          </p:nvPr>
        </p:nvSpPr>
        <p:spPr>
          <a:xfrm>
            <a:off x="684600" y="4130700"/>
            <a:ext cx="2965200" cy="88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Initial path before obstacles were introduced</a:t>
            </a:r>
            <a:endParaRPr/>
          </a:p>
        </p:txBody>
      </p:sp>
      <p:pic>
        <p:nvPicPr>
          <p:cNvPr id="145" name="Google Shape;145;p22"/>
          <p:cNvPicPr preferRelativeResize="0"/>
          <p:nvPr/>
        </p:nvPicPr>
        <p:blipFill>
          <a:blip r:embed="rId3">
            <a:alphaModFix/>
          </a:blip>
          <a:stretch>
            <a:fillRect/>
          </a:stretch>
        </p:blipFill>
        <p:spPr>
          <a:xfrm>
            <a:off x="494700" y="1653550"/>
            <a:ext cx="3155107" cy="2477150"/>
          </a:xfrm>
          <a:prstGeom prst="rect">
            <a:avLst/>
          </a:prstGeom>
          <a:noFill/>
          <a:ln>
            <a:noFill/>
          </a:ln>
        </p:spPr>
      </p:pic>
      <p:pic>
        <p:nvPicPr>
          <p:cNvPr id="146" name="Google Shape;146;p22"/>
          <p:cNvPicPr preferRelativeResize="0"/>
          <p:nvPr/>
        </p:nvPicPr>
        <p:blipFill>
          <a:blip r:embed="rId4">
            <a:alphaModFix/>
          </a:blip>
          <a:stretch>
            <a:fillRect/>
          </a:stretch>
        </p:blipFill>
        <p:spPr>
          <a:xfrm>
            <a:off x="5337832" y="1653550"/>
            <a:ext cx="3155107" cy="2477150"/>
          </a:xfrm>
          <a:prstGeom prst="rect">
            <a:avLst/>
          </a:prstGeom>
          <a:noFill/>
          <a:ln>
            <a:noFill/>
          </a:ln>
        </p:spPr>
      </p:pic>
      <p:sp>
        <p:nvSpPr>
          <p:cNvPr id="147" name="Google Shape;147;p22"/>
          <p:cNvSpPr txBox="1"/>
          <p:nvPr>
            <p:ph idx="1" type="body"/>
          </p:nvPr>
        </p:nvSpPr>
        <p:spPr>
          <a:xfrm>
            <a:off x="5432775" y="4130700"/>
            <a:ext cx="2965200" cy="1012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Course corrected path after obstacle was discovered</a:t>
            </a:r>
            <a:endParaRPr/>
          </a:p>
        </p:txBody>
      </p:sp>
      <p:sp>
        <p:nvSpPr>
          <p:cNvPr id="148" name="Google Shape;148;p22"/>
          <p:cNvSpPr txBox="1"/>
          <p:nvPr/>
        </p:nvSpPr>
        <p:spPr>
          <a:xfrm>
            <a:off x="3302575" y="1187638"/>
            <a:ext cx="2442300" cy="44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latin typeface="Lato"/>
                <a:ea typeface="Lato"/>
                <a:cs typeface="Lato"/>
                <a:sym typeface="Lato"/>
              </a:rPr>
              <a:t>Example:</a:t>
            </a:r>
            <a:endParaRPr b="1" sz="1700">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Preliminary Results </a:t>
            </a:r>
            <a:r>
              <a:rPr lang="en"/>
              <a:t>(Cont’d…)</a:t>
            </a:r>
            <a:endParaRPr/>
          </a:p>
        </p:txBody>
      </p:sp>
      <p:sp>
        <p:nvSpPr>
          <p:cNvPr id="154" name="Google Shape;154;p23"/>
          <p:cNvSpPr txBox="1"/>
          <p:nvPr>
            <p:ph idx="1" type="body"/>
          </p:nvPr>
        </p:nvSpPr>
        <p:spPr>
          <a:xfrm>
            <a:off x="203525" y="1202475"/>
            <a:ext cx="3746700" cy="3429000"/>
          </a:xfrm>
          <a:prstGeom prst="rect">
            <a:avLst/>
          </a:prstGeom>
        </p:spPr>
        <p:txBody>
          <a:bodyPr anchorCtr="0" anchor="t" bIns="91425" lIns="91425" spcFirstLastPara="1" rIns="91425" wrap="square" tIns="91425">
            <a:normAutofit fontScale="77500" lnSpcReduction="20000"/>
          </a:bodyPr>
          <a:lstStyle/>
          <a:p>
            <a:pPr indent="-330048" lvl="0" marL="457200" rtl="0" algn="l">
              <a:spcBef>
                <a:spcPts val="0"/>
              </a:spcBef>
              <a:spcAft>
                <a:spcPts val="0"/>
              </a:spcAft>
              <a:buSzPct val="100000"/>
              <a:buChar char="❏"/>
            </a:pPr>
            <a:r>
              <a:rPr lang="en" sz="2061"/>
              <a:t>The robot starts at (10,10) and moves forward until it detects an obstacle.</a:t>
            </a:r>
            <a:endParaRPr sz="2061"/>
          </a:p>
          <a:p>
            <a:pPr indent="-330048" lvl="0" marL="457200" rtl="0" algn="l">
              <a:spcBef>
                <a:spcPts val="0"/>
              </a:spcBef>
              <a:spcAft>
                <a:spcPts val="0"/>
              </a:spcAft>
              <a:buSzPct val="100000"/>
              <a:buChar char="❏"/>
            </a:pPr>
            <a:r>
              <a:rPr lang="en" sz="2061"/>
              <a:t>The different states of the robots are by functions in a finite state machine.</a:t>
            </a:r>
            <a:endParaRPr sz="2061"/>
          </a:p>
          <a:p>
            <a:pPr indent="-330048" lvl="0" marL="457200" rtl="0" algn="l">
              <a:spcBef>
                <a:spcPts val="0"/>
              </a:spcBef>
              <a:spcAft>
                <a:spcPts val="0"/>
              </a:spcAft>
              <a:buSzPct val="100000"/>
              <a:buChar char="❏"/>
            </a:pPr>
            <a:r>
              <a:rPr lang="en" sz="2061"/>
              <a:t>It continuously measures the distance of the obstacle that is in front of it.</a:t>
            </a:r>
            <a:endParaRPr sz="2061"/>
          </a:p>
          <a:p>
            <a:pPr indent="-330048" lvl="0" marL="457200" rtl="0" algn="l">
              <a:spcBef>
                <a:spcPts val="0"/>
              </a:spcBef>
              <a:spcAft>
                <a:spcPts val="0"/>
              </a:spcAft>
              <a:buSzPct val="100000"/>
              <a:buChar char="❏"/>
            </a:pPr>
            <a:r>
              <a:rPr lang="en" sz="2061"/>
              <a:t>If the obstacle distance&lt;8 units, the robot stops.</a:t>
            </a:r>
            <a:endParaRPr sz="2061"/>
          </a:p>
          <a:p>
            <a:pPr indent="0" lvl="0" marL="457200" rtl="0" algn="l">
              <a:spcBef>
                <a:spcPts val="1200"/>
              </a:spcBef>
              <a:spcAft>
                <a:spcPts val="0"/>
              </a:spcAft>
              <a:buNone/>
            </a:pPr>
            <a:r>
              <a:t/>
            </a:r>
            <a:endParaRPr sz="1400"/>
          </a:p>
          <a:p>
            <a:pPr indent="0" lvl="0" marL="0" rtl="0" algn="l">
              <a:spcBef>
                <a:spcPts val="1200"/>
              </a:spcBef>
              <a:spcAft>
                <a:spcPts val="1200"/>
              </a:spcAft>
              <a:buNone/>
            </a:pPr>
            <a:r>
              <a:t/>
            </a:r>
            <a:endParaRPr/>
          </a:p>
        </p:txBody>
      </p:sp>
      <p:pic>
        <p:nvPicPr>
          <p:cNvPr id="155" name="Google Shape;155;p23" title="cateringrobotsim.mp4">
            <a:hlinkClick r:id="rId3"/>
          </p:cNvPr>
          <p:cNvPicPr preferRelativeResize="0"/>
          <p:nvPr/>
        </p:nvPicPr>
        <p:blipFill>
          <a:blip r:embed="rId4">
            <a:alphaModFix/>
          </a:blip>
          <a:stretch>
            <a:fillRect/>
          </a:stretch>
        </p:blipFill>
        <p:spPr>
          <a:xfrm>
            <a:off x="4017550" y="1202475"/>
            <a:ext cx="4572000" cy="3429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4"/>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Preliminary Results (Cont’d…)</a:t>
            </a:r>
            <a:endParaRPr/>
          </a:p>
        </p:txBody>
      </p:sp>
      <p:sp>
        <p:nvSpPr>
          <p:cNvPr id="161" name="Google Shape;161;p24"/>
          <p:cNvSpPr txBox="1"/>
          <p:nvPr>
            <p:ph idx="1" type="body"/>
          </p:nvPr>
        </p:nvSpPr>
        <p:spPr>
          <a:xfrm>
            <a:off x="250650" y="1308525"/>
            <a:ext cx="8165700" cy="3429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It then checks to its left and right and saves these distances.</a:t>
            </a:r>
            <a:endParaRPr sz="1600"/>
          </a:p>
          <a:p>
            <a:pPr indent="-330200" lvl="0" marL="457200" rtl="0" algn="l">
              <a:spcBef>
                <a:spcPts val="0"/>
              </a:spcBef>
              <a:spcAft>
                <a:spcPts val="0"/>
              </a:spcAft>
              <a:buSzPts val="1600"/>
              <a:buChar char="❏"/>
            </a:pPr>
            <a:r>
              <a:rPr lang="en" sz="1600"/>
              <a:t>It then looks straight and then based on the previous data, chooses to move left or right.</a:t>
            </a:r>
            <a:endParaRPr sz="1600"/>
          </a:p>
          <a:p>
            <a:pPr indent="-330200" lvl="0" marL="457200" rtl="0" algn="l">
              <a:spcBef>
                <a:spcPts val="0"/>
              </a:spcBef>
              <a:spcAft>
                <a:spcPts val="0"/>
              </a:spcAft>
              <a:buSzPts val="1600"/>
              <a:buChar char="❏"/>
            </a:pPr>
            <a:r>
              <a:rPr lang="en" sz="1600"/>
              <a:t>The robot then turn 90 degrees towards the predicted direction and moves forward once again.</a:t>
            </a:r>
            <a:endParaRPr sz="1600"/>
          </a:p>
          <a:p>
            <a:pPr indent="-330200" lvl="0" marL="457200" rtl="0" algn="l">
              <a:spcBef>
                <a:spcPts val="0"/>
              </a:spcBef>
              <a:spcAft>
                <a:spcPts val="0"/>
              </a:spcAft>
              <a:buSzPts val="1600"/>
              <a:buChar char="❏"/>
            </a:pPr>
            <a:r>
              <a:rPr lang="en" sz="1600"/>
              <a:t>This process takes place again and again until then end of run time.</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5"/>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Next Steps</a:t>
            </a:r>
            <a:endParaRPr/>
          </a:p>
        </p:txBody>
      </p:sp>
      <p:sp>
        <p:nvSpPr>
          <p:cNvPr id="167" name="Google Shape;167;p25"/>
          <p:cNvSpPr txBox="1"/>
          <p:nvPr>
            <p:ph idx="1" type="body"/>
          </p:nvPr>
        </p:nvSpPr>
        <p:spPr>
          <a:xfrm>
            <a:off x="729450" y="1493925"/>
            <a:ext cx="7688700" cy="2846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Improve the robot simulation and its functions  and avoid obstacle collision.</a:t>
            </a:r>
            <a:endParaRPr sz="1500"/>
          </a:p>
          <a:p>
            <a:pPr indent="-323850" lvl="0" marL="457200" rtl="0" algn="l">
              <a:spcBef>
                <a:spcPts val="0"/>
              </a:spcBef>
              <a:spcAft>
                <a:spcPts val="0"/>
              </a:spcAft>
              <a:buSzPts val="1500"/>
              <a:buChar char="❏"/>
            </a:pPr>
            <a:r>
              <a:rPr lang="en" sz="1500"/>
              <a:t>Implement the </a:t>
            </a:r>
            <a:r>
              <a:rPr lang="en" sz="1500"/>
              <a:t>planned</a:t>
            </a:r>
            <a:r>
              <a:rPr lang="en" sz="1500"/>
              <a:t> path into the simulation.</a:t>
            </a:r>
            <a:endParaRPr sz="1500"/>
          </a:p>
          <a:p>
            <a:pPr indent="-323850" lvl="0" marL="457200" rtl="0" algn="l">
              <a:spcBef>
                <a:spcPts val="0"/>
              </a:spcBef>
              <a:spcAft>
                <a:spcPts val="0"/>
              </a:spcAft>
              <a:buSzPts val="1500"/>
              <a:buChar char="❏"/>
            </a:pPr>
            <a:r>
              <a:rPr lang="en" sz="1500"/>
              <a:t>Introduce multiple iterations into path planning such that new start point is the previous end point.</a:t>
            </a:r>
            <a:endParaRPr sz="1500"/>
          </a:p>
          <a:p>
            <a:pPr indent="-323850" lvl="0" marL="457200" rtl="0" algn="l">
              <a:spcBef>
                <a:spcPts val="0"/>
              </a:spcBef>
              <a:spcAft>
                <a:spcPts val="0"/>
              </a:spcAft>
              <a:buSzPts val="1500"/>
              <a:buChar char="❏"/>
            </a:pPr>
            <a:r>
              <a:rPr lang="en" sz="1500"/>
              <a:t>Have multiple seats be occupied (multiple goal nodes) in a single interval.</a:t>
            </a:r>
            <a:endParaRPr sz="1500"/>
          </a:p>
          <a:p>
            <a:pPr indent="-323850" lvl="0" marL="457200" rtl="0" algn="l">
              <a:spcBef>
                <a:spcPts val="0"/>
              </a:spcBef>
              <a:spcAft>
                <a:spcPts val="0"/>
              </a:spcAft>
              <a:buSzPts val="1500"/>
              <a:buChar char="❏"/>
            </a:pPr>
            <a:r>
              <a:rPr lang="en" sz="1500"/>
              <a:t>Introduce more </a:t>
            </a:r>
            <a:r>
              <a:rPr lang="en" sz="1500"/>
              <a:t>uncertainty</a:t>
            </a:r>
            <a:r>
              <a:rPr lang="en" sz="1500"/>
              <a:t> into the environment such interval of seats being occupied being take place at irregular intervals of time.</a:t>
            </a:r>
            <a:endParaRPr sz="1500"/>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6"/>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References</a:t>
            </a:r>
            <a:endParaRPr/>
          </a:p>
        </p:txBody>
      </p:sp>
      <p:sp>
        <p:nvSpPr>
          <p:cNvPr id="173" name="Google Shape;173;p26"/>
          <p:cNvSpPr txBox="1"/>
          <p:nvPr>
            <p:ph idx="1" type="body"/>
          </p:nvPr>
        </p:nvSpPr>
        <p:spPr>
          <a:xfrm>
            <a:off x="729450" y="1493925"/>
            <a:ext cx="7688700" cy="30759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u="sng">
                <a:solidFill>
                  <a:schemeClr val="hlink"/>
                </a:solidFill>
                <a:hlinkClick r:id="rId3"/>
              </a:rPr>
              <a:t>https://www.researchgate.net/publication/251945230_Catering_Service_Robot</a:t>
            </a:r>
            <a:endParaRPr sz="1500"/>
          </a:p>
          <a:p>
            <a:pPr indent="-323850" lvl="0" marL="457200" rtl="0" algn="l">
              <a:spcBef>
                <a:spcPts val="0"/>
              </a:spcBef>
              <a:spcAft>
                <a:spcPts val="0"/>
              </a:spcAft>
              <a:buSzPts val="1500"/>
              <a:buChar char="❏"/>
            </a:pPr>
            <a:r>
              <a:rPr lang="en" sz="1500" u="sng">
                <a:solidFill>
                  <a:schemeClr val="hlink"/>
                </a:solidFill>
                <a:hlinkClick r:id="rId4"/>
              </a:rPr>
              <a:t>https://www.sciencedirect.com/science/article/pii/S1877050918309967</a:t>
            </a:r>
            <a:endParaRPr sz="1500"/>
          </a:p>
          <a:p>
            <a:pPr indent="-323850" lvl="0" marL="457200" rtl="0" algn="l">
              <a:spcBef>
                <a:spcPts val="0"/>
              </a:spcBef>
              <a:spcAft>
                <a:spcPts val="0"/>
              </a:spcAft>
              <a:buSzPts val="1500"/>
              <a:buChar char="❏"/>
            </a:pPr>
            <a:r>
              <a:rPr lang="en" sz="1500" u="sng">
                <a:solidFill>
                  <a:schemeClr val="hlink"/>
                </a:solidFill>
                <a:hlinkClick r:id="rId5"/>
              </a:rPr>
              <a:t>https://www.pudurobotics.com/product/detail/bellabot</a:t>
            </a:r>
            <a:endParaRPr sz="1500"/>
          </a:p>
          <a:p>
            <a:pPr indent="-323850" lvl="0" marL="457200" rtl="0" algn="l">
              <a:spcBef>
                <a:spcPts val="0"/>
              </a:spcBef>
              <a:spcAft>
                <a:spcPts val="0"/>
              </a:spcAft>
              <a:buSzPts val="1500"/>
              <a:buChar char="❏"/>
            </a:pPr>
            <a:r>
              <a:rPr lang="en" sz="1500" u="sng">
                <a:solidFill>
                  <a:schemeClr val="hlink"/>
                </a:solidFill>
                <a:hlinkClick r:id="rId6"/>
              </a:rPr>
              <a:t>http://idm-lab.org/bib/abstracts/papers/aaai02b.pdf</a:t>
            </a:r>
            <a:endParaRPr sz="1500"/>
          </a:p>
          <a:p>
            <a:pPr indent="-323850" lvl="0" marL="457200" rtl="0" algn="l">
              <a:spcBef>
                <a:spcPts val="0"/>
              </a:spcBef>
              <a:spcAft>
                <a:spcPts val="0"/>
              </a:spcAft>
              <a:buSzPts val="1500"/>
              <a:buChar char="❏"/>
            </a:pPr>
            <a:r>
              <a:rPr lang="en" sz="1500" u="sng">
                <a:solidFill>
                  <a:schemeClr val="hlink"/>
                </a:solidFill>
                <a:hlinkClick r:id="rId7"/>
              </a:rPr>
              <a:t>https://github.com/AtsushiSakai/PythonRobotics</a:t>
            </a:r>
            <a:endParaRPr sz="1500"/>
          </a:p>
          <a:p>
            <a:pPr indent="-323850" lvl="0" marL="457200" rtl="0" algn="l">
              <a:spcBef>
                <a:spcPts val="0"/>
              </a:spcBef>
              <a:spcAft>
                <a:spcPts val="0"/>
              </a:spcAft>
              <a:buSzPts val="1500"/>
              <a:buChar char="❏"/>
            </a:pPr>
            <a:r>
              <a:rPr lang="en" sz="1500" u="sng">
                <a:solidFill>
                  <a:schemeClr val="hlink"/>
                </a:solidFill>
                <a:hlinkClick r:id="rId8"/>
              </a:rPr>
              <a:t>https://github.com/bblais/RobotSim373</a:t>
            </a:r>
            <a:endParaRPr sz="1500"/>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7"/>
          <p:cNvSpPr txBox="1"/>
          <p:nvPr>
            <p:ph type="title"/>
          </p:nvPr>
        </p:nvSpPr>
        <p:spPr>
          <a:xfrm>
            <a:off x="727650" y="586725"/>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Team</a:t>
            </a:r>
            <a:endParaRPr/>
          </a:p>
        </p:txBody>
      </p:sp>
      <p:sp>
        <p:nvSpPr>
          <p:cNvPr id="179" name="Google Shape;179;p27"/>
          <p:cNvSpPr txBox="1"/>
          <p:nvPr>
            <p:ph idx="1" type="body"/>
          </p:nvPr>
        </p:nvSpPr>
        <p:spPr>
          <a:xfrm>
            <a:off x="729450" y="1493925"/>
            <a:ext cx="7688700" cy="2846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latin typeface="Lato Black"/>
                <a:ea typeface="Lato Black"/>
                <a:cs typeface="Lato Black"/>
                <a:sym typeface="Lato Black"/>
              </a:rPr>
              <a:t>Ankit Ashok</a:t>
            </a:r>
            <a:endParaRPr sz="2000">
              <a:latin typeface="Lato Black"/>
              <a:ea typeface="Lato Black"/>
              <a:cs typeface="Lato Black"/>
              <a:sym typeface="Lato Black"/>
            </a:endParaRPr>
          </a:p>
          <a:p>
            <a:pPr indent="0" lvl="0" marL="0" rtl="0" algn="ctr">
              <a:spcBef>
                <a:spcPts val="1200"/>
              </a:spcBef>
              <a:spcAft>
                <a:spcPts val="0"/>
              </a:spcAft>
              <a:buNone/>
            </a:pPr>
            <a:r>
              <a:rPr lang="en" sz="2000">
                <a:latin typeface="Lato Black"/>
                <a:ea typeface="Lato Black"/>
                <a:cs typeface="Lato Black"/>
                <a:sym typeface="Lato Black"/>
              </a:rPr>
              <a:t>Ayush Kasara</a:t>
            </a:r>
            <a:endParaRPr sz="2000">
              <a:latin typeface="Lato Black"/>
              <a:ea typeface="Lato Black"/>
              <a:cs typeface="Lato Black"/>
              <a:sym typeface="Lato Black"/>
            </a:endParaRPr>
          </a:p>
          <a:p>
            <a:pPr indent="0" lvl="0" marL="0" rtl="0" algn="ctr">
              <a:spcBef>
                <a:spcPts val="1200"/>
              </a:spcBef>
              <a:spcAft>
                <a:spcPts val="1200"/>
              </a:spcAft>
              <a:buNone/>
            </a:pPr>
            <a:r>
              <a:rPr lang="en" sz="2000">
                <a:latin typeface="Lato Black"/>
                <a:ea typeface="Lato Black"/>
                <a:cs typeface="Lato Black"/>
                <a:sym typeface="Lato Black"/>
              </a:rPr>
              <a:t>Sindhu Meghana</a:t>
            </a:r>
            <a:endParaRPr sz="2000">
              <a:latin typeface="Lato Black"/>
              <a:ea typeface="Lato Black"/>
              <a:cs typeface="Lato Black"/>
              <a:sym typeface="Lato Blac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